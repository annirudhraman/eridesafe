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app name, one-sentence promise, and participant name.</a:t>
            </a:r>
            <a:br>
              <a:rPr lang="en-US"/>
            </a:br>
            <a:br>
              <a:rPr lang="en-US"/>
            </a:br>
            <a:r>
              <a:rPr lang="en-US"/>
              <a:t>[Sources]</a:t>
            </a:r>
            <a:br>
              <a:rPr lang="en-US"/>
            </a:br>
            <a:r>
              <a:rPr lang="en-US"/>
              <a:t>- /Users/annirudhraman/Desktop/Coding Projects/eRideSafe Project /eRideSafe/Views/Components/DesignSystem.swift</a:t>
            </a:r>
            <a:br>
              <a:rPr lang="en-US"/>
            </a:br>
            <a:r>
              <a:rPr lang="en-US"/>
              <a:t>- /Users/annirudhraman/Desktop/Coding Projects/eRideSafe Project /eRideSafe/Resources/Assets.xcassets/AppIcon.appiconset/AppIcon1024x1024.png</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3fad5d61461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g3fad5d61461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a single safety journey matters. Avoid unsupported statistics.</a:t>
            </a:r>
            <a:br>
              <a:rPr lang="en-US"/>
            </a:br>
            <a:br>
              <a:rPr lang="en-US"/>
            </a:br>
            <a:r>
              <a:rPr lang="en-US"/>
              <a:t>[Sources]</a:t>
            </a:r>
            <a:br>
              <a:rPr lang="en-US"/>
            </a:br>
            <a:r>
              <a:rPr lang="en-US"/>
              <a:t>- /Users/annirudhraman/Desktop/Coding Projects/eRideSafe Project /eRideSafe/App/RootTabView.swift</a:t>
            </a:r>
            <a:br>
              <a:rPr lang="en-US"/>
            </a:br>
            <a:r>
              <a:rPr lang="en-US"/>
              <a:t>- /Users/annirudhraman/Desktop/Coding Projects/eRideSafe Project /eRideSafe/Views/Home/HomeView.swift</a:t>
            </a:r>
            <a:endParaRPr/>
          </a:p>
        </p:txBody>
      </p:sp>
      <p:sp>
        <p:nvSpPr>
          <p:cNvPr id="28" name="Google Shape;28;g3fad5d61461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why a single safety journey matters. Avoid unsupported statistics.</a:t>
            </a:r>
            <a:br>
              <a:rPr lang="en-US"/>
            </a:br>
            <a:br>
              <a:rPr lang="en-US"/>
            </a:br>
            <a:r>
              <a:rPr lang="en-US"/>
              <a:t>[Sources]</a:t>
            </a:r>
            <a:br>
              <a:rPr lang="en-US"/>
            </a:br>
            <a:r>
              <a:rPr lang="en-US"/>
              <a:t>- /Users/annirudhraman/Desktop/Coding Projects/eRideSafe Project /eRideSafe/App/RootTabView.swift</a:t>
            </a:r>
            <a:br>
              <a:rPr lang="en-US"/>
            </a:br>
            <a:r>
              <a:rPr lang="en-US"/>
              <a:t>- /Users/annirudhraman/Desktop/Coding Projects/eRideSafe Project /eRideSafe/Views/Home/HomeView.swift</a:t>
            </a:r>
            <a:endParaRPr/>
          </a:p>
        </p:txBody>
      </p:sp>
      <p:sp>
        <p:nvSpPr>
          <p:cNvPr id="36" name="Google Shape;36;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Deliver the purpose in one clear sentence, then name the audience.</a:t>
            </a:r>
            <a:br>
              <a:rPr lang="en-US"/>
            </a:br>
            <a:br>
              <a:rPr lang="en-US"/>
            </a:br>
            <a:r>
              <a:rPr lang="en-US"/>
              <a:t>[Sources]</a:t>
            </a:r>
            <a:br>
              <a:rPr lang="en-US"/>
            </a:br>
            <a:r>
              <a:rPr lang="en-US"/>
              <a:t>- https://www.congressionalappchallenge.us/wp-content/uploads/2026/05/2026-CAC-Rules.pdf</a:t>
            </a:r>
            <a:br>
              <a:rPr lang="en-US"/>
            </a:br>
            <a:r>
              <a:rPr lang="en-US"/>
              <a:t>- /Users/annirudhraman/Desktop/Coding Projects/eRideSafe Project /eRideSafe/App/RootTabView.swift</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br>
              <a:rPr lang="en-US"/>
            </a:br>
            <a:r>
              <a:rPr lang="en-US"/>
              <a:t>[Sources]</a:t>
            </a:r>
            <a:br>
              <a:rPr lang="en-US"/>
            </a:br>
            <a:r>
              <a:rPr lang="en-US"/>
              <a:t>- /Users/annirudhraman/Desktop/Coding Projects/eRideSafe Project /eRideSafe/App/RootTabView.swift</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how the map, course, and reports combine prevention with community knowledge.</a:t>
            </a:r>
            <a:br>
              <a:rPr lang="en-US"/>
            </a:br>
            <a:br>
              <a:rPr lang="en-US"/>
            </a:br>
            <a:r>
              <a:rPr lang="en-US"/>
              <a:t>[Sources]</a:t>
            </a:r>
            <a:br>
              <a:rPr lang="en-US"/>
            </a:br>
            <a:r>
              <a:rPr lang="en-US"/>
              <a:t>- /Users/annirudhraman/Desktop/Coding Projects/eRideSafe Project /eRideSafe/Views/Home/HomeView.swift</a:t>
            </a:r>
            <a:br>
              <a:rPr lang="en-US"/>
            </a:br>
            <a:r>
              <a:rPr lang="en-US"/>
              <a:t>- /Users/annirudhraman/Desktop/Coding Projects/eRideSafe Project /eRideSafe/Services/FirebaseBackend.swift</a:t>
            </a:r>
            <a:endParaRPr/>
          </a:p>
        </p:txBody>
      </p:sp>
      <p:sp>
        <p:nvSpPr>
          <p:cNvPr id="119" name="Google Shape;11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Demonstrate the pre-ride checklist, live GPS speed, zone limit, motion sensor, audio/haptic alerts, and location sharing.</a:t>
            </a:r>
            <a:br>
              <a:rPr lang="en-US"/>
            </a:br>
            <a:br>
              <a:rPr lang="en-US"/>
            </a:br>
            <a:r>
              <a:rPr lang="en-US"/>
              <a:t>[Sources]</a:t>
            </a:r>
            <a:br>
              <a:rPr lang="en-US"/>
            </a:br>
            <a:r>
              <a:rPr lang="en-US"/>
              <a:t>- /Users/annirudhraman/Desktop/Coding Projects/eRideSafe Project /eRideSafe/Views/Ride/RideModeView.swift</a:t>
            </a:r>
            <a:endParaRPr/>
          </a:p>
        </p:txBody>
      </p:sp>
      <p:sp>
        <p:nvSpPr>
          <p:cNvPr id="145" name="Google Shape;14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technical stack and the core challenge: turning sensor streams and mapped rules into safe, usable feedback.</a:t>
            </a:r>
            <a:br>
              <a:rPr lang="en-US"/>
            </a:br>
            <a:br>
              <a:rPr lang="en-US"/>
            </a:br>
            <a:r>
              <a:rPr lang="en-US"/>
              <a:t>[Sources]</a:t>
            </a:r>
            <a:br>
              <a:rPr lang="en-US"/>
            </a:br>
            <a:r>
              <a:rPr lang="en-US"/>
              <a:t>- /Users/annirudhraman/Desktop/Coding Projects/eRideSafe Project /eRideSafe/Views/Ride/RideModeView.swift</a:t>
            </a:r>
            <a:br>
              <a:rPr lang="en-US"/>
            </a:br>
            <a:r>
              <a:rPr lang="en-US"/>
              <a:t>- /Users/annirudhraman/Desktop/Coding Projects/eRideSafe Project /eRideSafe/Services/FirebaseBackend.swift</a:t>
            </a:r>
            <a:endParaRPr/>
          </a:p>
        </p:txBody>
      </p:sp>
      <p:sp>
        <p:nvSpPr>
          <p:cNvPr id="178" name="Google Shape;17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b9224b7d4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b9224b7d4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8b9224b7d4_1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8b9224b7d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8b9224b7d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8b9224b7d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b9224b7d4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b9224b7d4_1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8b9224b7d4_1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b9224b7d4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8b9224b7d4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8b9224b7d4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b9224b7d4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8b9224b7d4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8b9224b7d4_1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br>
              <a:rPr lang="en-US"/>
            </a:br>
            <a:r>
              <a:rPr lang="en-US"/>
              <a:t>[Sources]</a:t>
            </a:r>
            <a:br>
              <a:rPr lang="en-US"/>
            </a:br>
            <a:r>
              <a:rPr lang="en-US"/>
              <a:t>- https://www.congressionalappchallenge.us/wp-content/uploads/2026/05/2026-CAC-Rules.pdf</a:t>
            </a:r>
            <a:br>
              <a:rPr lang="en-US"/>
            </a:br>
            <a:r>
              <a:rPr lang="en-US"/>
              <a:t>- /Users/annirudhraman/Desktop/Coding Projects/eRideSafe Project /eRideSafe/Views/Components/DesignSystem.swift</a:t>
            </a:r>
            <a:endParaRPr/>
          </a:p>
        </p:txBody>
      </p:sp>
      <p:sp>
        <p:nvSpPr>
          <p:cNvPr id="251" name="Google Shape;251;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ad5d61461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fad5d61461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fad5d61461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ad5d61461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ad5d61461_0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fad5d61461_0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b9224b7d4_1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8b9224b7d4_1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8b9224b7d4_1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3D52"/>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777240" y="3162633"/>
            <a:ext cx="91440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600"/>
              <a:buFont typeface="Arial"/>
              <a:buNone/>
            </a:pPr>
            <a:r>
              <a:rPr b="1" i="0" lang="en-US" sz="6600" u="none" cap="none" strike="noStrike">
                <a:solidFill>
                  <a:srgbClr val="FFFFFF"/>
                </a:solidFill>
                <a:latin typeface="Arial"/>
                <a:ea typeface="Arial"/>
                <a:cs typeface="Arial"/>
                <a:sym typeface="Arial"/>
              </a:rPr>
              <a:t>eRideSafe</a:t>
            </a:r>
            <a:endParaRPr b="0" i="0" sz="6600" u="none" cap="none" strike="noStrike">
              <a:solidFill>
                <a:schemeClr val="dk1"/>
              </a:solidFill>
              <a:latin typeface="Calibri"/>
              <a:ea typeface="Calibri"/>
              <a:cs typeface="Calibri"/>
              <a:sym typeface="Calibri"/>
            </a:endParaRPr>
          </a:p>
        </p:txBody>
      </p:sp>
      <p:sp>
        <p:nvSpPr>
          <p:cNvPr id="17" name="Google Shape;17;p3"/>
          <p:cNvSpPr/>
          <p:nvPr/>
        </p:nvSpPr>
        <p:spPr>
          <a:xfrm>
            <a:off x="777248" y="4315968"/>
            <a:ext cx="76809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6D2DC"/>
              </a:buClr>
              <a:buSzPts val="2100"/>
              <a:buFont typeface="Calibri"/>
              <a:buNone/>
            </a:pPr>
            <a:r>
              <a:rPr b="0" i="0" lang="en-US" sz="2100" u="none" cap="none" strike="noStrike">
                <a:solidFill>
                  <a:srgbClr val="C6D2DC"/>
                </a:solidFill>
                <a:latin typeface="Calibri"/>
                <a:ea typeface="Calibri"/>
                <a:cs typeface="Calibri"/>
                <a:sym typeface="Calibri"/>
              </a:rPr>
              <a:t>A simpler way for Sammamish riders to learn the rules and ride safely.</a:t>
            </a:r>
            <a:endParaRPr b="0" i="0" sz="21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872773" y="5508220"/>
            <a:ext cx="3840600" cy="0"/>
          </a:xfrm>
          <a:prstGeom prst="straightConnector1">
            <a:avLst/>
          </a:prstGeom>
          <a:noFill/>
          <a:ln cap="flat" cmpd="sng" w="12700">
            <a:solidFill>
              <a:srgbClr val="2C4256"/>
            </a:solidFill>
            <a:prstDash val="solid"/>
            <a:round/>
            <a:headEnd len="sm" w="sm" type="none"/>
            <a:tailEnd len="sm" w="sm" type="none"/>
          </a:ln>
        </p:spPr>
      </p:cxnSp>
      <p:sp>
        <p:nvSpPr>
          <p:cNvPr id="19" name="Google Shape;19;p3"/>
          <p:cNvSpPr/>
          <p:nvPr/>
        </p:nvSpPr>
        <p:spPr>
          <a:xfrm>
            <a:off x="777248" y="5733306"/>
            <a:ext cx="82296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Annirudh Raman</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777248" y="6053403"/>
            <a:ext cx="82296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C8E9C"/>
              </a:buClr>
              <a:buSzPts val="1400"/>
              <a:buFont typeface="Calibri"/>
              <a:buNone/>
            </a:pPr>
            <a:r>
              <a:rPr lang="en-US">
                <a:solidFill>
                  <a:srgbClr val="7C8E9C"/>
                </a:solidFill>
                <a:latin typeface="Calibri"/>
                <a:ea typeface="Calibri"/>
                <a:cs typeface="Calibri"/>
                <a:sym typeface="Calibri"/>
              </a:rPr>
              <a:t>Eastlake High School</a:t>
            </a:r>
            <a:r>
              <a:rPr b="0" i="0" lang="en-US" sz="1400" u="none" cap="none" strike="noStrike">
                <a:solidFill>
                  <a:srgbClr val="7C8E9C"/>
                </a:solidFill>
                <a:latin typeface="Calibri"/>
                <a:ea typeface="Calibri"/>
                <a:cs typeface="Calibri"/>
                <a:sym typeface="Calibri"/>
              </a:rPr>
              <a:t>   •   </a:t>
            </a:r>
            <a:r>
              <a:rPr lang="en-US">
                <a:solidFill>
                  <a:srgbClr val="7C8E9C"/>
                </a:solidFill>
                <a:latin typeface="Calibri"/>
                <a:ea typeface="Calibri"/>
                <a:cs typeface="Calibri"/>
                <a:sym typeface="Calibri"/>
              </a:rPr>
              <a:t>9th Grade</a:t>
            </a:r>
            <a:endParaRPr>
              <a:solidFill>
                <a:srgbClr val="7C8E9C"/>
              </a:solidFill>
              <a:latin typeface="Calibri"/>
              <a:ea typeface="Calibri"/>
              <a:cs typeface="Calibri"/>
              <a:sym typeface="Calibri"/>
            </a:endParaRPr>
          </a:p>
        </p:txBody>
      </p:sp>
      <p:pic>
        <p:nvPicPr>
          <p:cNvPr id="21" name="Google Shape;21;p3"/>
          <p:cNvPicPr preferRelativeResize="0"/>
          <p:nvPr/>
        </p:nvPicPr>
        <p:blipFill>
          <a:blip r:embed="rId3">
            <a:alphaModFix/>
          </a:blip>
          <a:stretch>
            <a:fillRect/>
          </a:stretch>
        </p:blipFill>
        <p:spPr>
          <a:xfrm>
            <a:off x="872775" y="1075649"/>
            <a:ext cx="2086976" cy="2086976"/>
          </a:xfrm>
          <a:prstGeom prst="rect">
            <a:avLst/>
          </a:prstGeom>
          <a:noFill/>
          <a:ln>
            <a:noFill/>
          </a:ln>
        </p:spPr>
      </p:pic>
      <p:sp>
        <p:nvSpPr>
          <p:cNvPr id="22" name="Google Shape;22;p3"/>
          <p:cNvSpPr/>
          <p:nvPr/>
        </p:nvSpPr>
        <p:spPr>
          <a:xfrm>
            <a:off x="-162" y="6373500"/>
            <a:ext cx="12192000" cy="507900"/>
          </a:xfrm>
          <a:prstGeom prst="rect">
            <a:avLst/>
          </a:prstGeom>
          <a:solidFill>
            <a:srgbClr val="1FB86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3"/>
          <p:cNvSpPr/>
          <p:nvPr/>
        </p:nvSpPr>
        <p:spPr>
          <a:xfrm>
            <a:off x="8699500" y="-1397000"/>
            <a:ext cx="4698900" cy="4698900"/>
          </a:xfrm>
          <a:prstGeom prst="ellipse">
            <a:avLst/>
          </a:prstGeom>
          <a:solidFill>
            <a:srgbClr val="1FB86E">
              <a:alpha val="18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 name="Google Shape;24;p3"/>
          <p:cNvSpPr/>
          <p:nvPr/>
        </p:nvSpPr>
        <p:spPr>
          <a:xfrm>
            <a:off x="9457225" y="-508100"/>
            <a:ext cx="2921100" cy="2921100"/>
          </a:xfrm>
          <a:prstGeom prst="ellipse">
            <a:avLst/>
          </a:prstGeom>
          <a:solidFill>
            <a:srgbClr val="14A3A8">
              <a:alpha val="2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9F8"/>
        </a:solidFill>
      </p:bgPr>
    </p:bg>
    <p:spTree>
      <p:nvGrpSpPr>
        <p:cNvPr id="29" name="Shape 29"/>
        <p:cNvGrpSpPr/>
        <p:nvPr/>
      </p:nvGrpSpPr>
      <p:grpSpPr>
        <a:xfrm>
          <a:off x="0" y="0"/>
          <a:ext cx="0" cy="0"/>
          <a:chOff x="0" y="0"/>
          <a:chExt cx="0" cy="0"/>
        </a:xfrm>
      </p:grpSpPr>
      <p:sp>
        <p:nvSpPr>
          <p:cNvPr id="30" name="Google Shape;30;p4"/>
          <p:cNvSpPr/>
          <p:nvPr/>
        </p:nvSpPr>
        <p:spPr>
          <a:xfrm>
            <a:off x="640080" y="43891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22C55E"/>
                </a:solidFill>
                <a:latin typeface="Arial"/>
                <a:ea typeface="Arial"/>
                <a:cs typeface="Arial"/>
                <a:sym typeface="Arial"/>
              </a:rPr>
              <a:t>THE PROBLEM</a:t>
            </a:r>
            <a:endParaRPr b="0" i="0" sz="1200" u="none" cap="none" strike="noStrike">
              <a:solidFill>
                <a:srgbClr val="22C55E"/>
              </a:solidFill>
              <a:latin typeface="Calibri"/>
              <a:ea typeface="Calibri"/>
              <a:cs typeface="Calibri"/>
              <a:sym typeface="Calibri"/>
            </a:endParaRPr>
          </a:p>
        </p:txBody>
      </p:sp>
      <p:sp>
        <p:nvSpPr>
          <p:cNvPr id="31" name="Google Shape;31;p4"/>
          <p:cNvSpPr/>
          <p:nvPr/>
        </p:nvSpPr>
        <p:spPr>
          <a:xfrm>
            <a:off x="10515600" y="402336"/>
            <a:ext cx="10332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02</a:t>
            </a:r>
            <a:endParaRPr b="0" i="0" sz="1300" u="none" cap="none" strike="noStrike">
              <a:solidFill>
                <a:schemeClr val="dk1"/>
              </a:solidFill>
              <a:latin typeface="Calibri"/>
              <a:ea typeface="Calibri"/>
              <a:cs typeface="Calibri"/>
              <a:sym typeface="Calibri"/>
            </a:endParaRPr>
          </a:p>
        </p:txBody>
      </p:sp>
      <p:sp>
        <p:nvSpPr>
          <p:cNvPr id="32" name="Google Shape;32;p4"/>
          <p:cNvSpPr/>
          <p:nvPr/>
        </p:nvSpPr>
        <p:spPr>
          <a:xfrm>
            <a:off x="1097839" y="2362050"/>
            <a:ext cx="9996000" cy="2133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lang="en-US" sz="7000">
                <a:solidFill>
                  <a:srgbClr val="11212F"/>
                </a:solidFill>
              </a:rPr>
              <a:t>Reckless E-bike Riding</a:t>
            </a:r>
            <a:endParaRPr b="0" i="0" sz="7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9F8"/>
        </a:solidFill>
      </p:bgPr>
    </p:bg>
    <p:spTree>
      <p:nvGrpSpPr>
        <p:cNvPr id="37" name="Shape 37"/>
        <p:cNvGrpSpPr/>
        <p:nvPr/>
      </p:nvGrpSpPr>
      <p:grpSpPr>
        <a:xfrm>
          <a:off x="0" y="0"/>
          <a:ext cx="0" cy="0"/>
          <a:chOff x="0" y="0"/>
          <a:chExt cx="0" cy="0"/>
        </a:xfrm>
      </p:grpSpPr>
      <p:sp>
        <p:nvSpPr>
          <p:cNvPr id="38" name="Google Shape;38;p5"/>
          <p:cNvSpPr/>
          <p:nvPr/>
        </p:nvSpPr>
        <p:spPr>
          <a:xfrm>
            <a:off x="640080" y="43891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lang="en-US" sz="1200">
                <a:solidFill>
                  <a:srgbClr val="22C55E"/>
                </a:solidFill>
              </a:rPr>
              <a:t>MY SOLUTION</a:t>
            </a:r>
            <a:endParaRPr b="0" i="0" sz="1200" u="none" cap="none" strike="noStrike">
              <a:solidFill>
                <a:srgbClr val="22C55E"/>
              </a:solidFill>
              <a:latin typeface="Calibri"/>
              <a:ea typeface="Calibri"/>
              <a:cs typeface="Calibri"/>
              <a:sym typeface="Calibri"/>
            </a:endParaRPr>
          </a:p>
        </p:txBody>
      </p:sp>
      <p:sp>
        <p:nvSpPr>
          <p:cNvPr id="39" name="Google Shape;39;p5"/>
          <p:cNvSpPr/>
          <p:nvPr/>
        </p:nvSpPr>
        <p:spPr>
          <a:xfrm>
            <a:off x="10515600" y="402336"/>
            <a:ext cx="10332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02</a:t>
            </a:r>
            <a:endParaRPr b="0" i="0" sz="1300" u="none" cap="none" strike="noStrike">
              <a:solidFill>
                <a:schemeClr val="dk1"/>
              </a:solidFill>
              <a:latin typeface="Calibri"/>
              <a:ea typeface="Calibri"/>
              <a:cs typeface="Calibri"/>
              <a:sym typeface="Calibri"/>
            </a:endParaRPr>
          </a:p>
        </p:txBody>
      </p:sp>
      <p:sp>
        <p:nvSpPr>
          <p:cNvPr id="40" name="Google Shape;40;p5"/>
          <p:cNvSpPr/>
          <p:nvPr/>
        </p:nvSpPr>
        <p:spPr>
          <a:xfrm>
            <a:off x="621792" y="786384"/>
            <a:ext cx="109272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lang="en-US" sz="3400">
                <a:solidFill>
                  <a:srgbClr val="11212F"/>
                </a:solidFill>
              </a:rPr>
              <a:t>Spreading Awareness</a:t>
            </a:r>
            <a:endParaRPr b="0" i="0" sz="3400" u="none" cap="none" strike="noStrike">
              <a:solidFill>
                <a:schemeClr val="dk1"/>
              </a:solidFill>
              <a:latin typeface="Calibri"/>
              <a:ea typeface="Calibri"/>
              <a:cs typeface="Calibri"/>
              <a:sym typeface="Calibri"/>
            </a:endParaRPr>
          </a:p>
        </p:txBody>
      </p:sp>
      <p:sp>
        <p:nvSpPr>
          <p:cNvPr id="41" name="Google Shape;41;p5"/>
          <p:cNvSpPr/>
          <p:nvPr/>
        </p:nvSpPr>
        <p:spPr>
          <a:xfrm>
            <a:off x="640080" y="1965960"/>
            <a:ext cx="5394900" cy="21945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11212F"/>
              </a:buClr>
              <a:buSzPts val="1800"/>
              <a:buFont typeface="Calibri"/>
              <a:buNone/>
            </a:pPr>
            <a:r>
              <a:rPr b="0" i="0" lang="en-US" sz="1800" u="none" cap="none" strike="noStrike">
                <a:solidFill>
                  <a:srgbClr val="11212F"/>
                </a:solidFill>
                <a:latin typeface="Calibri"/>
                <a:ea typeface="Calibri"/>
                <a:cs typeface="Calibri"/>
                <a:sym typeface="Calibri"/>
              </a:rPr>
              <a:t>Many young riders and families do not have one clear, easy place to understand their vehicle, learn where they may legally ride, and develop safe habits before going out on the road or trail.</a:t>
            </a:r>
            <a:endParaRPr b="0" i="0" sz="1800" u="none" cap="none" strike="noStrike">
              <a:solidFill>
                <a:schemeClr val="dk1"/>
              </a:solidFill>
              <a:latin typeface="Calibri"/>
              <a:ea typeface="Calibri"/>
              <a:cs typeface="Calibri"/>
              <a:sym typeface="Calibri"/>
            </a:endParaRPr>
          </a:p>
        </p:txBody>
      </p:sp>
      <p:sp>
        <p:nvSpPr>
          <p:cNvPr id="42" name="Google Shape;42;p5"/>
          <p:cNvSpPr/>
          <p:nvPr/>
        </p:nvSpPr>
        <p:spPr>
          <a:xfrm>
            <a:off x="640080" y="4613145"/>
            <a:ext cx="5394900" cy="1417200"/>
          </a:xfrm>
          <a:prstGeom prst="roundRect">
            <a:avLst>
              <a:gd fmla="val 6452" name="adj"/>
            </a:avLst>
          </a:prstGeom>
          <a:solidFill>
            <a:srgbClr val="F4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68680" y="4846320"/>
            <a:ext cx="502800" cy="502800"/>
          </a:xfrm>
          <a:prstGeom prst="ellipse">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5"/>
          <p:cNvPicPr preferRelativeResize="0"/>
          <p:nvPr/>
        </p:nvPicPr>
        <p:blipFill rotWithShape="1">
          <a:blip r:embed="rId3">
            <a:alphaModFix/>
          </a:blip>
          <a:srcRect b="0" l="0" r="0" t="0"/>
          <a:stretch/>
        </p:blipFill>
        <p:spPr>
          <a:xfrm>
            <a:off x="994410" y="4972050"/>
            <a:ext cx="251460" cy="251460"/>
          </a:xfrm>
          <a:prstGeom prst="rect">
            <a:avLst/>
          </a:prstGeom>
          <a:noFill/>
          <a:ln>
            <a:noFill/>
          </a:ln>
        </p:spPr>
      </p:pic>
      <p:sp>
        <p:nvSpPr>
          <p:cNvPr id="45" name="Google Shape;45;p5"/>
          <p:cNvSpPr/>
          <p:nvPr/>
        </p:nvSpPr>
        <p:spPr>
          <a:xfrm>
            <a:off x="1508760" y="4773168"/>
            <a:ext cx="4343400" cy="109740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5803D"/>
              </a:buClr>
              <a:buSzPts val="1500"/>
              <a:buFont typeface="Calibri"/>
              <a:buNone/>
            </a:pPr>
            <a:r>
              <a:rPr b="1" i="0" lang="en-US" sz="1500" u="none" cap="none" strike="noStrike">
                <a:solidFill>
                  <a:schemeClr val="dk1"/>
                </a:solidFill>
                <a:latin typeface="Calibri"/>
                <a:ea typeface="Calibri"/>
                <a:cs typeface="Calibri"/>
                <a:sym typeface="Calibri"/>
              </a:rPr>
              <a:t>Without clear guidance, riders may miss hazards or make unsafe choices that can lead to accidents.</a:t>
            </a:r>
            <a:endParaRPr b="0" i="0" sz="1500" u="none" cap="none" strike="noStrike">
              <a:solidFill>
                <a:schemeClr val="dk1"/>
              </a:solidFill>
              <a:latin typeface="Calibri"/>
              <a:ea typeface="Calibri"/>
              <a:cs typeface="Calibri"/>
              <a:sym typeface="Calibri"/>
            </a:endParaRPr>
          </a:p>
        </p:txBody>
      </p:sp>
      <p:sp>
        <p:nvSpPr>
          <p:cNvPr id="46" name="Google Shape;46;p5"/>
          <p:cNvSpPr/>
          <p:nvPr/>
        </p:nvSpPr>
        <p:spPr>
          <a:xfrm>
            <a:off x="6446520" y="1965960"/>
            <a:ext cx="5074800" cy="4069200"/>
          </a:xfrm>
          <a:prstGeom prst="roundRect">
            <a:avLst>
              <a:gd fmla="val 3146" name="adj"/>
            </a:avLst>
          </a:prstGeom>
          <a:solidFill>
            <a:srgbClr val="17293B"/>
          </a:solidFill>
          <a:ln>
            <a:noFill/>
          </a:ln>
          <a:effectLst>
            <a:outerShdw blurRad="177800" rotWithShape="0" algn="bl" dir="5400000" dist="63500">
              <a:srgbClr val="1E3346">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830568" y="2377440"/>
            <a:ext cx="567000" cy="5670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5"/>
          <p:cNvPicPr preferRelativeResize="0"/>
          <p:nvPr/>
        </p:nvPicPr>
        <p:blipFill rotWithShape="1">
          <a:blip r:embed="rId4">
            <a:alphaModFix/>
          </a:blip>
          <a:srcRect b="0" l="0" r="0" t="0"/>
          <a:stretch/>
        </p:blipFill>
        <p:spPr>
          <a:xfrm>
            <a:off x="6972300" y="2519172"/>
            <a:ext cx="283464" cy="283464"/>
          </a:xfrm>
          <a:prstGeom prst="rect">
            <a:avLst/>
          </a:prstGeom>
          <a:noFill/>
          <a:ln>
            <a:noFill/>
          </a:ln>
        </p:spPr>
      </p:pic>
      <p:sp>
        <p:nvSpPr>
          <p:cNvPr id="49" name="Google Shape;49;p5"/>
          <p:cNvSpPr/>
          <p:nvPr/>
        </p:nvSpPr>
        <p:spPr>
          <a:xfrm>
            <a:off x="7589520" y="2331720"/>
            <a:ext cx="370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Bike class</a:t>
            </a:r>
            <a:endParaRPr b="0" i="0" sz="1900" u="none" cap="none" strike="noStrike">
              <a:solidFill>
                <a:schemeClr val="dk1"/>
              </a:solidFill>
              <a:latin typeface="Calibri"/>
              <a:ea typeface="Calibri"/>
              <a:cs typeface="Calibri"/>
              <a:sym typeface="Calibri"/>
            </a:endParaRPr>
          </a:p>
        </p:txBody>
      </p:sp>
      <p:sp>
        <p:nvSpPr>
          <p:cNvPr id="50" name="Google Shape;50;p5"/>
          <p:cNvSpPr/>
          <p:nvPr/>
        </p:nvSpPr>
        <p:spPr>
          <a:xfrm>
            <a:off x="7589520" y="2734056"/>
            <a:ext cx="3657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AEBFCC"/>
              </a:buClr>
              <a:buSzPts val="1400"/>
              <a:buFont typeface="Calibri"/>
              <a:buNone/>
            </a:pPr>
            <a:r>
              <a:rPr b="0" i="0" lang="en-US" sz="1400" u="none" cap="none" strike="noStrike">
                <a:solidFill>
                  <a:srgbClr val="AEBFCC"/>
                </a:solidFill>
                <a:latin typeface="Calibri"/>
                <a:ea typeface="Calibri"/>
                <a:cs typeface="Calibri"/>
                <a:sym typeface="Calibri"/>
              </a:rPr>
              <a:t>Class 1, 2, </a:t>
            </a:r>
            <a:r>
              <a:rPr lang="en-US">
                <a:solidFill>
                  <a:srgbClr val="AEBFCC"/>
                </a:solidFill>
                <a:latin typeface="Calibri"/>
                <a:ea typeface="Calibri"/>
                <a:cs typeface="Calibri"/>
                <a:sym typeface="Calibri"/>
              </a:rPr>
              <a:t>3, and e-motorcycles all follow different rules and must abide by different laws.</a:t>
            </a:r>
            <a:endParaRPr b="0" i="0" sz="1400" u="none" cap="none" strike="noStrike">
              <a:solidFill>
                <a:schemeClr val="dk1"/>
              </a:solidFill>
              <a:latin typeface="Calibri"/>
              <a:ea typeface="Calibri"/>
              <a:cs typeface="Calibri"/>
              <a:sym typeface="Calibri"/>
            </a:endParaRPr>
          </a:p>
        </p:txBody>
      </p:sp>
      <p:sp>
        <p:nvSpPr>
          <p:cNvPr id="51" name="Google Shape;51;p5"/>
          <p:cNvSpPr/>
          <p:nvPr/>
        </p:nvSpPr>
        <p:spPr>
          <a:xfrm>
            <a:off x="6830568" y="3566160"/>
            <a:ext cx="567000" cy="5670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 name="Google Shape;52;p5"/>
          <p:cNvPicPr preferRelativeResize="0"/>
          <p:nvPr/>
        </p:nvPicPr>
        <p:blipFill rotWithShape="1">
          <a:blip r:embed="rId5">
            <a:alphaModFix/>
          </a:blip>
          <a:srcRect b="0" l="0" r="0" t="0"/>
          <a:stretch/>
        </p:blipFill>
        <p:spPr>
          <a:xfrm>
            <a:off x="6972300" y="3707892"/>
            <a:ext cx="283464" cy="283464"/>
          </a:xfrm>
          <a:prstGeom prst="rect">
            <a:avLst/>
          </a:prstGeom>
          <a:noFill/>
          <a:ln>
            <a:noFill/>
          </a:ln>
        </p:spPr>
      </p:pic>
      <p:sp>
        <p:nvSpPr>
          <p:cNvPr id="53" name="Google Shape;53;p5"/>
          <p:cNvSpPr/>
          <p:nvPr/>
        </p:nvSpPr>
        <p:spPr>
          <a:xfrm>
            <a:off x="7589520" y="3520440"/>
            <a:ext cx="370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Legal routes</a:t>
            </a:r>
            <a:endParaRPr b="0" i="0" sz="1900" u="none" cap="none" strike="noStrike">
              <a:solidFill>
                <a:schemeClr val="dk1"/>
              </a:solidFill>
              <a:latin typeface="Calibri"/>
              <a:ea typeface="Calibri"/>
              <a:cs typeface="Calibri"/>
              <a:sym typeface="Calibri"/>
            </a:endParaRPr>
          </a:p>
        </p:txBody>
      </p:sp>
      <p:sp>
        <p:nvSpPr>
          <p:cNvPr id="54" name="Google Shape;54;p5"/>
          <p:cNvSpPr/>
          <p:nvPr/>
        </p:nvSpPr>
        <p:spPr>
          <a:xfrm>
            <a:off x="7589520" y="3922776"/>
            <a:ext cx="3657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AEBFCC"/>
              </a:buClr>
              <a:buSzPts val="1400"/>
              <a:buFont typeface="Calibri"/>
              <a:buNone/>
            </a:pPr>
            <a:r>
              <a:rPr b="0" i="0" lang="en-US" sz="1400" u="none" cap="none" strike="noStrike">
                <a:solidFill>
                  <a:srgbClr val="AEBFCC"/>
                </a:solidFill>
                <a:latin typeface="Calibri"/>
                <a:ea typeface="Calibri"/>
                <a:cs typeface="Calibri"/>
                <a:sym typeface="Calibri"/>
              </a:rPr>
              <a:t>Roads and trails have different access rules.</a:t>
            </a:r>
            <a:endParaRPr b="0" i="0" sz="1400" u="none" cap="none" strike="noStrike">
              <a:solidFill>
                <a:schemeClr val="dk1"/>
              </a:solidFill>
              <a:latin typeface="Calibri"/>
              <a:ea typeface="Calibri"/>
              <a:cs typeface="Calibri"/>
              <a:sym typeface="Calibri"/>
            </a:endParaRPr>
          </a:p>
        </p:txBody>
      </p:sp>
      <p:sp>
        <p:nvSpPr>
          <p:cNvPr id="55" name="Google Shape;55;p5"/>
          <p:cNvSpPr/>
          <p:nvPr/>
        </p:nvSpPr>
        <p:spPr>
          <a:xfrm>
            <a:off x="6830568" y="4754880"/>
            <a:ext cx="567000" cy="5670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 name="Google Shape;56;p5"/>
          <p:cNvPicPr preferRelativeResize="0"/>
          <p:nvPr/>
        </p:nvPicPr>
        <p:blipFill rotWithShape="1">
          <a:blip r:embed="rId6">
            <a:alphaModFix/>
          </a:blip>
          <a:srcRect b="0" l="0" r="0" t="0"/>
          <a:stretch/>
        </p:blipFill>
        <p:spPr>
          <a:xfrm>
            <a:off x="6972300" y="4896612"/>
            <a:ext cx="283464" cy="283464"/>
          </a:xfrm>
          <a:prstGeom prst="rect">
            <a:avLst/>
          </a:prstGeom>
          <a:noFill/>
          <a:ln>
            <a:noFill/>
          </a:ln>
        </p:spPr>
      </p:pic>
      <p:sp>
        <p:nvSpPr>
          <p:cNvPr id="57" name="Google Shape;57;p5"/>
          <p:cNvSpPr/>
          <p:nvPr/>
        </p:nvSpPr>
        <p:spPr>
          <a:xfrm>
            <a:off x="7589520" y="4709160"/>
            <a:ext cx="370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Safe habits</a:t>
            </a:r>
            <a:endParaRPr b="0" i="0" sz="1900" u="none" cap="none" strike="noStrike">
              <a:solidFill>
                <a:schemeClr val="dk1"/>
              </a:solidFill>
              <a:latin typeface="Calibri"/>
              <a:ea typeface="Calibri"/>
              <a:cs typeface="Calibri"/>
              <a:sym typeface="Calibri"/>
            </a:endParaRPr>
          </a:p>
        </p:txBody>
      </p:sp>
      <p:sp>
        <p:nvSpPr>
          <p:cNvPr id="58" name="Google Shape;58;p5"/>
          <p:cNvSpPr/>
          <p:nvPr/>
        </p:nvSpPr>
        <p:spPr>
          <a:xfrm>
            <a:off x="7589520" y="5111496"/>
            <a:ext cx="3657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AEBFCC"/>
              </a:buClr>
              <a:buSzPts val="1400"/>
              <a:buFont typeface="Calibri"/>
              <a:buNone/>
            </a:pPr>
            <a:r>
              <a:rPr b="0" i="0" lang="en-US" sz="1400" u="none" cap="none" strike="noStrike">
                <a:solidFill>
                  <a:srgbClr val="AEBFCC"/>
                </a:solidFill>
                <a:latin typeface="Calibri"/>
                <a:ea typeface="Calibri"/>
                <a:cs typeface="Calibri"/>
                <a:sym typeface="Calibri"/>
              </a:rPr>
              <a:t>Riders need training before they start.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63" name="Shape 63"/>
        <p:cNvGrpSpPr/>
        <p:nvPr/>
      </p:nvGrpSpPr>
      <p:grpSpPr>
        <a:xfrm>
          <a:off x="0" y="0"/>
          <a:ext cx="0" cy="0"/>
          <a:chOff x="0" y="0"/>
          <a:chExt cx="0" cy="0"/>
        </a:xfrm>
      </p:grpSpPr>
      <p:sp>
        <p:nvSpPr>
          <p:cNvPr id="64" name="Google Shape;64;p6"/>
          <p:cNvSpPr/>
          <p:nvPr/>
        </p:nvSpPr>
        <p:spPr>
          <a:xfrm>
            <a:off x="640080" y="438912"/>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lang="en-US" sz="1200">
                <a:solidFill>
                  <a:srgbClr val="22C55E"/>
                </a:solidFill>
              </a:rPr>
              <a:t>SOLUTION</a:t>
            </a:r>
            <a:endParaRPr b="0" i="0" sz="1200" u="none" cap="none" strike="noStrike">
              <a:solidFill>
                <a:srgbClr val="22C55E"/>
              </a:solidFill>
              <a:latin typeface="Calibri"/>
              <a:ea typeface="Calibri"/>
              <a:cs typeface="Calibri"/>
              <a:sym typeface="Calibri"/>
            </a:endParaRPr>
          </a:p>
        </p:txBody>
      </p:sp>
      <p:sp>
        <p:nvSpPr>
          <p:cNvPr id="65" name="Google Shape;65;p6"/>
          <p:cNvSpPr/>
          <p:nvPr/>
        </p:nvSpPr>
        <p:spPr>
          <a:xfrm>
            <a:off x="10515600" y="402336"/>
            <a:ext cx="1033272"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03</a:t>
            </a:r>
            <a:endParaRPr b="0" i="0" sz="1300" u="none" cap="none" strike="noStrike">
              <a:solidFill>
                <a:schemeClr val="dk1"/>
              </a:solidFill>
              <a:latin typeface="Calibri"/>
              <a:ea typeface="Calibri"/>
              <a:cs typeface="Calibri"/>
              <a:sym typeface="Calibri"/>
            </a:endParaRPr>
          </a:p>
        </p:txBody>
      </p:sp>
      <p:sp>
        <p:nvSpPr>
          <p:cNvPr id="66" name="Google Shape;66;p6"/>
          <p:cNvSpPr/>
          <p:nvPr/>
        </p:nvSpPr>
        <p:spPr>
          <a:xfrm>
            <a:off x="621792" y="786384"/>
            <a:ext cx="109270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i="0" lang="en-US" sz="3400" u="none" cap="none" strike="noStrike">
                <a:solidFill>
                  <a:srgbClr val="11212F"/>
                </a:solidFill>
                <a:latin typeface="Arial"/>
                <a:ea typeface="Arial"/>
                <a:cs typeface="Arial"/>
                <a:sym typeface="Arial"/>
              </a:rPr>
              <a:t>One app for the whole safety journey</a:t>
            </a:r>
            <a:endParaRPr b="0" i="0" sz="3400" u="none" cap="none" strike="noStrike">
              <a:solidFill>
                <a:schemeClr val="dk1"/>
              </a:solidFill>
              <a:latin typeface="Calibri"/>
              <a:ea typeface="Calibri"/>
              <a:cs typeface="Calibri"/>
              <a:sym typeface="Calibri"/>
            </a:endParaRPr>
          </a:p>
        </p:txBody>
      </p:sp>
      <p:sp>
        <p:nvSpPr>
          <p:cNvPr id="67" name="Google Shape;67;p6"/>
          <p:cNvSpPr/>
          <p:nvPr/>
        </p:nvSpPr>
        <p:spPr>
          <a:xfrm>
            <a:off x="640080" y="1783080"/>
            <a:ext cx="1088136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18000"/>
              </a:lnSpc>
              <a:spcBef>
                <a:spcPts val="0"/>
              </a:spcBef>
              <a:spcAft>
                <a:spcPts val="0"/>
              </a:spcAft>
              <a:buClr>
                <a:srgbClr val="11212F"/>
              </a:buClr>
              <a:buSzPts val="1900"/>
              <a:buFont typeface="Calibri"/>
              <a:buNone/>
            </a:pPr>
            <a:r>
              <a:rPr b="0" i="0" lang="en-US" sz="1900" u="none" cap="none" strike="noStrike">
                <a:solidFill>
                  <a:srgbClr val="11212F"/>
                </a:solidFill>
                <a:latin typeface="Calibri"/>
                <a:ea typeface="Calibri"/>
                <a:cs typeface="Calibri"/>
                <a:sym typeface="Calibri"/>
              </a:rPr>
              <a:t>eRideSafe helps riders find their bike class, learn local rules, check where they can ride, report hazards, and get clear alerts during a ride.</a:t>
            </a:r>
            <a:endParaRPr b="0" i="0" sz="1900" u="none" cap="none" strike="noStrike">
              <a:solidFill>
                <a:schemeClr val="dk1"/>
              </a:solidFill>
              <a:latin typeface="Calibri"/>
              <a:ea typeface="Calibri"/>
              <a:cs typeface="Calibri"/>
              <a:sym typeface="Calibri"/>
            </a:endParaRPr>
          </a:p>
        </p:txBody>
      </p:sp>
      <p:sp>
        <p:nvSpPr>
          <p:cNvPr id="68" name="Google Shape;68;p6"/>
          <p:cNvSpPr/>
          <p:nvPr/>
        </p:nvSpPr>
        <p:spPr>
          <a:xfrm>
            <a:off x="640080" y="3063265"/>
            <a:ext cx="5257800" cy="2880300"/>
          </a:xfrm>
          <a:prstGeom prst="roundRect">
            <a:avLst>
              <a:gd fmla="val 4444" name="adj"/>
            </a:avLst>
          </a:prstGeom>
          <a:solidFill>
            <a:srgbClr val="FFFFFF"/>
          </a:solidFill>
          <a:ln cap="flat" cmpd="sng" w="12700">
            <a:solidFill>
              <a:srgbClr val="EAF0EE"/>
            </a:solidFill>
            <a:prstDash val="solid"/>
            <a:round/>
            <a:headEnd len="sm" w="sm" type="none"/>
            <a:tailEnd len="sm" w="sm" type="none"/>
          </a:ln>
          <a:effectLst>
            <a:outerShdw blurRad="152400" rotWithShape="0" algn="bl" dir="5400000" dist="50800">
              <a:srgbClr val="C9D6D2">
                <a:alpha val="5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1097280" y="3520440"/>
            <a:ext cx="731400" cy="7314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0" name="Google Shape;70;p6"/>
          <p:cNvPicPr preferRelativeResize="0"/>
          <p:nvPr/>
        </p:nvPicPr>
        <p:blipFill rotWithShape="1">
          <a:blip r:embed="rId3">
            <a:alphaModFix/>
          </a:blip>
          <a:srcRect b="0" l="0" r="0" t="0"/>
          <a:stretch/>
        </p:blipFill>
        <p:spPr>
          <a:xfrm>
            <a:off x="1280160" y="3703320"/>
            <a:ext cx="365760" cy="365760"/>
          </a:xfrm>
          <a:prstGeom prst="rect">
            <a:avLst/>
          </a:prstGeom>
          <a:noFill/>
          <a:ln>
            <a:noFill/>
          </a:ln>
        </p:spPr>
      </p:pic>
      <p:sp>
        <p:nvSpPr>
          <p:cNvPr id="71" name="Google Shape;71;p6"/>
          <p:cNvSpPr/>
          <p:nvPr/>
        </p:nvSpPr>
        <p:spPr>
          <a:xfrm>
            <a:off x="1097280" y="4434840"/>
            <a:ext cx="4343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C55E"/>
              </a:buClr>
              <a:buSzPts val="1300"/>
              <a:buFont typeface="Arial"/>
              <a:buNone/>
            </a:pPr>
            <a:r>
              <a:rPr b="1" i="0" lang="en-US" sz="1300" u="none" cap="none" strike="noStrike">
                <a:solidFill>
                  <a:srgbClr val="22C55E"/>
                </a:solidFill>
                <a:latin typeface="Arial"/>
                <a:ea typeface="Arial"/>
                <a:cs typeface="Arial"/>
                <a:sym typeface="Arial"/>
              </a:rPr>
              <a:t>WHY I BUILT IT</a:t>
            </a:r>
            <a:endParaRPr b="0" i="0" sz="1300" u="none" cap="none" strike="noStrike">
              <a:solidFill>
                <a:schemeClr val="dk1"/>
              </a:solidFill>
              <a:latin typeface="Calibri"/>
              <a:ea typeface="Calibri"/>
              <a:cs typeface="Calibri"/>
              <a:sym typeface="Calibri"/>
            </a:endParaRPr>
          </a:p>
        </p:txBody>
      </p:sp>
      <p:sp>
        <p:nvSpPr>
          <p:cNvPr id="72" name="Google Shape;72;p6"/>
          <p:cNvSpPr/>
          <p:nvPr/>
        </p:nvSpPr>
        <p:spPr>
          <a:xfrm>
            <a:off x="1097280" y="4800600"/>
            <a:ext cx="4343400" cy="960000"/>
          </a:xfrm>
          <a:prstGeom prst="rect">
            <a:avLst/>
          </a:prstGeom>
          <a:noFill/>
          <a:ln>
            <a:noFill/>
          </a:ln>
        </p:spPr>
        <p:txBody>
          <a:bodyPr anchorCtr="0" anchor="ctr" bIns="45700" lIns="91425" spcFirstLastPara="1" rIns="91425" wrap="square" tIns="45700">
            <a:noAutofit/>
          </a:bodyPr>
          <a:lstStyle/>
          <a:p>
            <a:pPr indent="0" lvl="0" marL="0" marR="0" rtl="0" algn="l">
              <a:lnSpc>
                <a:spcPct val="118000"/>
              </a:lnSpc>
              <a:spcBef>
                <a:spcPts val="0"/>
              </a:spcBef>
              <a:spcAft>
                <a:spcPts val="0"/>
              </a:spcAft>
              <a:buClr>
                <a:srgbClr val="11212F"/>
              </a:buClr>
              <a:buSzPts val="1700"/>
              <a:buFont typeface="Calibri"/>
              <a:buNone/>
            </a:pPr>
            <a:r>
              <a:rPr lang="en-US" sz="1700">
                <a:solidFill>
                  <a:srgbClr val="11212F"/>
                </a:solidFill>
                <a:latin typeface="Calibri"/>
                <a:ea typeface="Calibri"/>
                <a:cs typeface="Calibri"/>
                <a:sym typeface="Calibri"/>
              </a:rPr>
              <a:t>Because of accidents due to misinformation, reckless driving, and increasing unsafe e-Bike </a:t>
            </a:r>
            <a:r>
              <a:rPr lang="en-US" sz="1700">
                <a:solidFill>
                  <a:srgbClr val="11212F"/>
                </a:solidFill>
                <a:latin typeface="Calibri"/>
                <a:ea typeface="Calibri"/>
                <a:cs typeface="Calibri"/>
                <a:sym typeface="Calibri"/>
              </a:rPr>
              <a:t>usage.</a:t>
            </a:r>
            <a:endParaRPr b="0" i="0" sz="1700" u="none" cap="none" strike="noStrike">
              <a:solidFill>
                <a:schemeClr val="dk1"/>
              </a:solidFill>
              <a:latin typeface="Calibri"/>
              <a:ea typeface="Calibri"/>
              <a:cs typeface="Calibri"/>
              <a:sym typeface="Calibri"/>
            </a:endParaRPr>
          </a:p>
        </p:txBody>
      </p:sp>
      <p:sp>
        <p:nvSpPr>
          <p:cNvPr id="73" name="Google Shape;73;p6"/>
          <p:cNvSpPr/>
          <p:nvPr/>
        </p:nvSpPr>
        <p:spPr>
          <a:xfrm>
            <a:off x="6263640" y="3063240"/>
            <a:ext cx="5257800" cy="2880360"/>
          </a:xfrm>
          <a:prstGeom prst="roundRect">
            <a:avLst>
              <a:gd fmla="val 4444" name="adj"/>
            </a:avLst>
          </a:prstGeom>
          <a:solidFill>
            <a:srgbClr val="0F1E2E"/>
          </a:solidFill>
          <a:ln>
            <a:noFill/>
          </a:ln>
          <a:effectLst>
            <a:outerShdw blurRad="152400" rotWithShape="0" algn="bl" dir="5400000" dist="50800">
              <a:srgbClr val="C9D6D2">
                <a:alpha val="5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6720840" y="3520440"/>
            <a:ext cx="731520" cy="73152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6"/>
          <p:cNvPicPr preferRelativeResize="0"/>
          <p:nvPr/>
        </p:nvPicPr>
        <p:blipFill rotWithShape="1">
          <a:blip r:embed="rId4">
            <a:alphaModFix/>
          </a:blip>
          <a:srcRect b="0" l="0" r="0" t="0"/>
          <a:stretch/>
        </p:blipFill>
        <p:spPr>
          <a:xfrm>
            <a:off x="6903720" y="3703320"/>
            <a:ext cx="365760" cy="365760"/>
          </a:xfrm>
          <a:prstGeom prst="rect">
            <a:avLst/>
          </a:prstGeom>
          <a:noFill/>
          <a:ln>
            <a:noFill/>
          </a:ln>
        </p:spPr>
      </p:pic>
      <p:sp>
        <p:nvSpPr>
          <p:cNvPr id="76" name="Google Shape;76;p6"/>
          <p:cNvSpPr/>
          <p:nvPr/>
        </p:nvSpPr>
        <p:spPr>
          <a:xfrm>
            <a:off x="6720840" y="4434840"/>
            <a:ext cx="4343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C55E"/>
              </a:buClr>
              <a:buSzPts val="1300"/>
              <a:buFont typeface="Arial"/>
              <a:buNone/>
            </a:pPr>
            <a:r>
              <a:rPr b="1" i="0" lang="en-US" sz="1300" u="none" cap="none" strike="noStrike">
                <a:solidFill>
                  <a:srgbClr val="22C55E"/>
                </a:solidFill>
                <a:latin typeface="Arial"/>
                <a:ea typeface="Arial"/>
                <a:cs typeface="Arial"/>
                <a:sym typeface="Arial"/>
              </a:rPr>
              <a:t>WHO IT HELPS</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6720840" y="4800600"/>
            <a:ext cx="43434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18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Students, new riders, and families in Sammamish</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7"/>
          <p:cNvSpPr/>
          <p:nvPr/>
        </p:nvSpPr>
        <p:spPr>
          <a:xfrm>
            <a:off x="640080" y="438912"/>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22C55E"/>
                </a:solidFill>
                <a:latin typeface="Arial"/>
                <a:ea typeface="Arial"/>
                <a:cs typeface="Arial"/>
                <a:sym typeface="Arial"/>
              </a:rPr>
              <a:t>HOW IT WORKS</a:t>
            </a:r>
            <a:endParaRPr b="0" i="0" sz="1200" u="none" cap="none" strike="noStrike">
              <a:solidFill>
                <a:srgbClr val="22C55E"/>
              </a:solidFill>
              <a:latin typeface="Calibri"/>
              <a:ea typeface="Calibri"/>
              <a:cs typeface="Calibri"/>
              <a:sym typeface="Calibri"/>
            </a:endParaRPr>
          </a:p>
        </p:txBody>
      </p:sp>
      <p:sp>
        <p:nvSpPr>
          <p:cNvPr id="84" name="Google Shape;84;p7"/>
          <p:cNvSpPr/>
          <p:nvPr/>
        </p:nvSpPr>
        <p:spPr>
          <a:xfrm>
            <a:off x="10515600" y="402336"/>
            <a:ext cx="1033272"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a:t>
            </a:r>
            <a:r>
              <a:rPr b="1" lang="en-US" sz="1300">
                <a:solidFill>
                  <a:srgbClr val="5C6B7A"/>
                </a:solidFill>
              </a:rPr>
              <a:t>3</a:t>
            </a:r>
            <a:endParaRPr b="0" i="0" sz="1300" u="none" cap="none" strike="noStrike">
              <a:solidFill>
                <a:schemeClr val="dk1"/>
              </a:solidFill>
              <a:latin typeface="Calibri"/>
              <a:ea typeface="Calibri"/>
              <a:cs typeface="Calibri"/>
              <a:sym typeface="Calibri"/>
            </a:endParaRPr>
          </a:p>
        </p:txBody>
      </p:sp>
      <p:sp>
        <p:nvSpPr>
          <p:cNvPr id="85" name="Google Shape;85;p7"/>
          <p:cNvSpPr/>
          <p:nvPr/>
        </p:nvSpPr>
        <p:spPr>
          <a:xfrm>
            <a:off x="621792" y="786384"/>
            <a:ext cx="109272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i="0" lang="en-US" sz="3400" u="none" cap="none" strike="noStrike">
                <a:solidFill>
                  <a:schemeClr val="lt1"/>
                </a:solidFill>
                <a:latin typeface="Arial"/>
                <a:ea typeface="Arial"/>
                <a:cs typeface="Arial"/>
                <a:sym typeface="Arial"/>
              </a:rPr>
              <a:t>The app works </a:t>
            </a:r>
            <a:r>
              <a:rPr b="1" lang="en-US" sz="3400">
                <a:solidFill>
                  <a:schemeClr val="lt1"/>
                </a:solidFill>
              </a:rPr>
              <a:t>using</a:t>
            </a:r>
            <a:r>
              <a:rPr b="1" i="0" lang="en-US" sz="3400" u="none" cap="none" strike="noStrike">
                <a:solidFill>
                  <a:schemeClr val="lt1"/>
                </a:solidFill>
                <a:latin typeface="Arial"/>
                <a:ea typeface="Arial"/>
                <a:cs typeface="Arial"/>
                <a:sym typeface="Arial"/>
              </a:rPr>
              <a:t> five simple </a:t>
            </a:r>
            <a:r>
              <a:rPr b="1" lang="en-US" sz="3400">
                <a:solidFill>
                  <a:schemeClr val="lt1"/>
                </a:solidFill>
              </a:rPr>
              <a:t>features</a:t>
            </a:r>
            <a:endParaRPr b="0" i="0" sz="3400" u="none" cap="none" strike="noStrike">
              <a:solidFill>
                <a:schemeClr val="lt1"/>
              </a:solidFill>
              <a:latin typeface="Calibri"/>
              <a:ea typeface="Calibri"/>
              <a:cs typeface="Calibri"/>
              <a:sym typeface="Calibri"/>
            </a:endParaRPr>
          </a:p>
        </p:txBody>
      </p:sp>
      <p:sp>
        <p:nvSpPr>
          <p:cNvPr id="86" name="Google Shape;86;p7"/>
          <p:cNvSpPr/>
          <p:nvPr/>
        </p:nvSpPr>
        <p:spPr>
          <a:xfrm>
            <a:off x="640080" y="2286000"/>
            <a:ext cx="1853123" cy="3200400"/>
          </a:xfrm>
          <a:prstGeom prst="roundRect">
            <a:avLst>
              <a:gd fmla="val 6415"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1178022" y="2670048"/>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7"/>
          <p:cNvPicPr preferRelativeResize="0"/>
          <p:nvPr/>
        </p:nvPicPr>
        <p:blipFill rotWithShape="1">
          <a:blip r:embed="rId3">
            <a:alphaModFix/>
          </a:blip>
          <a:srcRect b="0" l="0" r="0" t="0"/>
          <a:stretch/>
        </p:blipFill>
        <p:spPr>
          <a:xfrm>
            <a:off x="1372332" y="2864358"/>
            <a:ext cx="388620" cy="388620"/>
          </a:xfrm>
          <a:prstGeom prst="rect">
            <a:avLst/>
          </a:prstGeom>
          <a:noFill/>
          <a:ln>
            <a:noFill/>
          </a:ln>
        </p:spPr>
      </p:pic>
      <p:sp>
        <p:nvSpPr>
          <p:cNvPr id="89" name="Google Shape;89;p7"/>
          <p:cNvSpPr/>
          <p:nvPr/>
        </p:nvSpPr>
        <p:spPr>
          <a:xfrm>
            <a:off x="640080" y="3584448"/>
            <a:ext cx="1853123"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01</a:t>
            </a:r>
            <a:endParaRPr b="0" i="0" sz="1300" u="none" cap="none" strike="noStrike">
              <a:solidFill>
                <a:schemeClr val="dk1"/>
              </a:solidFill>
              <a:latin typeface="Calibri"/>
              <a:ea typeface="Calibri"/>
              <a:cs typeface="Calibri"/>
              <a:sym typeface="Calibri"/>
            </a:endParaRPr>
          </a:p>
        </p:txBody>
      </p:sp>
      <p:sp>
        <p:nvSpPr>
          <p:cNvPr id="90" name="Google Shape;90;p7"/>
          <p:cNvSpPr/>
          <p:nvPr/>
        </p:nvSpPr>
        <p:spPr>
          <a:xfrm>
            <a:off x="640080" y="3858768"/>
            <a:ext cx="1853123"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CLASSIFY</a:t>
            </a:r>
            <a:endParaRPr b="0" i="0" sz="1600" u="none" cap="none" strike="noStrike">
              <a:solidFill>
                <a:schemeClr val="dk1"/>
              </a:solidFill>
              <a:latin typeface="Calibri"/>
              <a:ea typeface="Calibri"/>
              <a:cs typeface="Calibri"/>
              <a:sym typeface="Calibri"/>
            </a:endParaRPr>
          </a:p>
        </p:txBody>
      </p:sp>
      <p:sp>
        <p:nvSpPr>
          <p:cNvPr id="91" name="Google Shape;91;p7"/>
          <p:cNvSpPr/>
          <p:nvPr/>
        </p:nvSpPr>
        <p:spPr>
          <a:xfrm>
            <a:off x="749808" y="4251960"/>
            <a:ext cx="1633667" cy="914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Find your bike class</a:t>
            </a:r>
            <a:endParaRPr b="0" i="0" sz="1300" u="none" cap="none" strike="noStrike">
              <a:solidFill>
                <a:schemeClr val="dk1"/>
              </a:solidFill>
              <a:latin typeface="Calibri"/>
              <a:ea typeface="Calibri"/>
              <a:cs typeface="Calibri"/>
              <a:sym typeface="Calibri"/>
            </a:endParaRPr>
          </a:p>
        </p:txBody>
      </p:sp>
      <p:sp>
        <p:nvSpPr>
          <p:cNvPr id="92" name="Google Shape;92;p7"/>
          <p:cNvSpPr/>
          <p:nvPr/>
        </p:nvSpPr>
        <p:spPr>
          <a:xfrm>
            <a:off x="2904683" y="2286000"/>
            <a:ext cx="1853123" cy="3200400"/>
          </a:xfrm>
          <a:prstGeom prst="roundRect">
            <a:avLst>
              <a:gd fmla="val 6415"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3442625" y="2670048"/>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7"/>
          <p:cNvPicPr preferRelativeResize="0"/>
          <p:nvPr/>
        </p:nvPicPr>
        <p:blipFill rotWithShape="1">
          <a:blip r:embed="rId4">
            <a:alphaModFix/>
          </a:blip>
          <a:srcRect b="0" l="0" r="0" t="0"/>
          <a:stretch/>
        </p:blipFill>
        <p:spPr>
          <a:xfrm>
            <a:off x="3636935" y="2864358"/>
            <a:ext cx="388620" cy="388620"/>
          </a:xfrm>
          <a:prstGeom prst="rect">
            <a:avLst/>
          </a:prstGeom>
          <a:noFill/>
          <a:ln>
            <a:noFill/>
          </a:ln>
        </p:spPr>
      </p:pic>
      <p:sp>
        <p:nvSpPr>
          <p:cNvPr id="95" name="Google Shape;95;p7"/>
          <p:cNvSpPr/>
          <p:nvPr/>
        </p:nvSpPr>
        <p:spPr>
          <a:xfrm>
            <a:off x="2904683" y="3584448"/>
            <a:ext cx="1853123"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02</a:t>
            </a:r>
            <a:endParaRPr b="0" i="0" sz="1300" u="none" cap="none" strike="noStrike">
              <a:solidFill>
                <a:schemeClr val="dk1"/>
              </a:solidFill>
              <a:latin typeface="Calibri"/>
              <a:ea typeface="Calibri"/>
              <a:cs typeface="Calibri"/>
              <a:sym typeface="Calibri"/>
            </a:endParaRPr>
          </a:p>
        </p:txBody>
      </p:sp>
      <p:sp>
        <p:nvSpPr>
          <p:cNvPr id="96" name="Google Shape;96;p7"/>
          <p:cNvSpPr/>
          <p:nvPr/>
        </p:nvSpPr>
        <p:spPr>
          <a:xfrm>
            <a:off x="2904683" y="3858768"/>
            <a:ext cx="1853123"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LEARN</a:t>
            </a:r>
            <a:endParaRPr b="0" i="0" sz="1600" u="none" cap="none" strike="noStrike">
              <a:solidFill>
                <a:schemeClr val="dk1"/>
              </a:solidFill>
              <a:latin typeface="Calibri"/>
              <a:ea typeface="Calibri"/>
              <a:cs typeface="Calibri"/>
              <a:sym typeface="Calibri"/>
            </a:endParaRPr>
          </a:p>
        </p:txBody>
      </p:sp>
      <p:sp>
        <p:nvSpPr>
          <p:cNvPr id="97" name="Google Shape;97;p7"/>
          <p:cNvSpPr/>
          <p:nvPr/>
        </p:nvSpPr>
        <p:spPr>
          <a:xfrm>
            <a:off x="3014411" y="4251960"/>
            <a:ext cx="1633667" cy="914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Learn the safety basics</a:t>
            </a:r>
            <a:endParaRPr b="0" i="0" sz="1300" u="none" cap="none" strike="noStrike">
              <a:solidFill>
                <a:schemeClr val="dk1"/>
              </a:solidFill>
              <a:latin typeface="Calibri"/>
              <a:ea typeface="Calibri"/>
              <a:cs typeface="Calibri"/>
              <a:sym typeface="Calibri"/>
            </a:endParaRPr>
          </a:p>
        </p:txBody>
      </p:sp>
      <p:sp>
        <p:nvSpPr>
          <p:cNvPr id="98" name="Google Shape;98;p7"/>
          <p:cNvSpPr/>
          <p:nvPr/>
        </p:nvSpPr>
        <p:spPr>
          <a:xfrm>
            <a:off x="5169286" y="2286000"/>
            <a:ext cx="1853123" cy="3200400"/>
          </a:xfrm>
          <a:prstGeom prst="roundRect">
            <a:avLst>
              <a:gd fmla="val 6415"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5707228" y="2670048"/>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 name="Google Shape;100;p7"/>
          <p:cNvPicPr preferRelativeResize="0"/>
          <p:nvPr/>
        </p:nvPicPr>
        <p:blipFill rotWithShape="1">
          <a:blip r:embed="rId5">
            <a:alphaModFix/>
          </a:blip>
          <a:srcRect b="0" l="0" r="0" t="0"/>
          <a:stretch/>
        </p:blipFill>
        <p:spPr>
          <a:xfrm>
            <a:off x="5901538" y="2864358"/>
            <a:ext cx="388620" cy="388620"/>
          </a:xfrm>
          <a:prstGeom prst="rect">
            <a:avLst/>
          </a:prstGeom>
          <a:noFill/>
          <a:ln>
            <a:noFill/>
          </a:ln>
        </p:spPr>
      </p:pic>
      <p:sp>
        <p:nvSpPr>
          <p:cNvPr id="101" name="Google Shape;101;p7"/>
          <p:cNvSpPr/>
          <p:nvPr/>
        </p:nvSpPr>
        <p:spPr>
          <a:xfrm>
            <a:off x="5169286" y="3584448"/>
            <a:ext cx="1853123"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03</a:t>
            </a:r>
            <a:endParaRPr b="0" i="0" sz="1300" u="none" cap="none" strike="noStrike">
              <a:solidFill>
                <a:schemeClr val="dk1"/>
              </a:solidFill>
              <a:latin typeface="Calibri"/>
              <a:ea typeface="Calibri"/>
              <a:cs typeface="Calibri"/>
              <a:sym typeface="Calibri"/>
            </a:endParaRPr>
          </a:p>
        </p:txBody>
      </p:sp>
      <p:sp>
        <p:nvSpPr>
          <p:cNvPr id="102" name="Google Shape;102;p7"/>
          <p:cNvSpPr/>
          <p:nvPr/>
        </p:nvSpPr>
        <p:spPr>
          <a:xfrm>
            <a:off x="5169286" y="3858768"/>
            <a:ext cx="1853123"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MAP</a:t>
            </a:r>
            <a:endParaRPr b="0" i="0" sz="1600" u="none" cap="none" strike="noStrike">
              <a:solidFill>
                <a:schemeClr val="dk1"/>
              </a:solidFill>
              <a:latin typeface="Calibri"/>
              <a:ea typeface="Calibri"/>
              <a:cs typeface="Calibri"/>
              <a:sym typeface="Calibri"/>
            </a:endParaRPr>
          </a:p>
        </p:txBody>
      </p:sp>
      <p:sp>
        <p:nvSpPr>
          <p:cNvPr id="103" name="Google Shape;103;p7"/>
          <p:cNvSpPr/>
          <p:nvPr/>
        </p:nvSpPr>
        <p:spPr>
          <a:xfrm>
            <a:off x="5279014" y="4251960"/>
            <a:ext cx="1633667" cy="914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See where you can ride</a:t>
            </a:r>
            <a:endParaRPr b="0" i="0" sz="1300" u="none" cap="none" strike="noStrike">
              <a:solidFill>
                <a:schemeClr val="dk1"/>
              </a:solidFill>
              <a:latin typeface="Calibri"/>
              <a:ea typeface="Calibri"/>
              <a:cs typeface="Calibri"/>
              <a:sym typeface="Calibri"/>
            </a:endParaRPr>
          </a:p>
        </p:txBody>
      </p:sp>
      <p:sp>
        <p:nvSpPr>
          <p:cNvPr id="104" name="Google Shape;104;p7"/>
          <p:cNvSpPr/>
          <p:nvPr/>
        </p:nvSpPr>
        <p:spPr>
          <a:xfrm>
            <a:off x="7433889" y="2286000"/>
            <a:ext cx="1853123" cy="3200400"/>
          </a:xfrm>
          <a:prstGeom prst="roundRect">
            <a:avLst>
              <a:gd fmla="val 6415"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7971831" y="2670048"/>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 name="Google Shape;106;p7"/>
          <p:cNvPicPr preferRelativeResize="0"/>
          <p:nvPr/>
        </p:nvPicPr>
        <p:blipFill rotWithShape="1">
          <a:blip r:embed="rId6">
            <a:alphaModFix/>
          </a:blip>
          <a:srcRect b="0" l="0" r="0" t="0"/>
          <a:stretch/>
        </p:blipFill>
        <p:spPr>
          <a:xfrm>
            <a:off x="8166141" y="2864358"/>
            <a:ext cx="388620" cy="388620"/>
          </a:xfrm>
          <a:prstGeom prst="rect">
            <a:avLst/>
          </a:prstGeom>
          <a:noFill/>
          <a:ln>
            <a:noFill/>
          </a:ln>
        </p:spPr>
      </p:pic>
      <p:sp>
        <p:nvSpPr>
          <p:cNvPr id="107" name="Google Shape;107;p7"/>
          <p:cNvSpPr/>
          <p:nvPr/>
        </p:nvSpPr>
        <p:spPr>
          <a:xfrm>
            <a:off x="7433889" y="3584448"/>
            <a:ext cx="1853123"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04</a:t>
            </a:r>
            <a:endParaRPr b="0" i="0" sz="1300" u="none" cap="none" strike="noStrike">
              <a:solidFill>
                <a:schemeClr val="dk1"/>
              </a:solidFill>
              <a:latin typeface="Calibri"/>
              <a:ea typeface="Calibri"/>
              <a:cs typeface="Calibri"/>
              <a:sym typeface="Calibri"/>
            </a:endParaRPr>
          </a:p>
        </p:txBody>
      </p:sp>
      <p:sp>
        <p:nvSpPr>
          <p:cNvPr id="108" name="Google Shape;108;p7"/>
          <p:cNvSpPr/>
          <p:nvPr/>
        </p:nvSpPr>
        <p:spPr>
          <a:xfrm>
            <a:off x="7433889" y="3858768"/>
            <a:ext cx="1853123"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REPORT</a:t>
            </a:r>
            <a:endParaRPr b="0" i="0" sz="1600" u="none" cap="none" strike="noStrike">
              <a:solidFill>
                <a:schemeClr val="dk1"/>
              </a:solidFill>
              <a:latin typeface="Calibri"/>
              <a:ea typeface="Calibri"/>
              <a:cs typeface="Calibri"/>
              <a:sym typeface="Calibri"/>
            </a:endParaRPr>
          </a:p>
        </p:txBody>
      </p:sp>
      <p:sp>
        <p:nvSpPr>
          <p:cNvPr id="109" name="Google Shape;109;p7"/>
          <p:cNvSpPr/>
          <p:nvPr/>
        </p:nvSpPr>
        <p:spPr>
          <a:xfrm>
            <a:off x="7543617" y="4251960"/>
            <a:ext cx="1633667" cy="914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Warn others about hazards</a:t>
            </a:r>
            <a:endParaRPr b="0" i="0" sz="1300" u="none" cap="none" strike="noStrike">
              <a:solidFill>
                <a:schemeClr val="dk1"/>
              </a:solidFill>
              <a:latin typeface="Calibri"/>
              <a:ea typeface="Calibri"/>
              <a:cs typeface="Calibri"/>
              <a:sym typeface="Calibri"/>
            </a:endParaRPr>
          </a:p>
        </p:txBody>
      </p:sp>
      <p:sp>
        <p:nvSpPr>
          <p:cNvPr id="110" name="Google Shape;110;p7"/>
          <p:cNvSpPr/>
          <p:nvPr/>
        </p:nvSpPr>
        <p:spPr>
          <a:xfrm>
            <a:off x="9698492" y="2286000"/>
            <a:ext cx="1853123" cy="3200400"/>
          </a:xfrm>
          <a:prstGeom prst="roundRect">
            <a:avLst>
              <a:gd fmla="val 6415" name="adj"/>
            </a:avLst>
          </a:prstGeom>
          <a:solidFill>
            <a:srgbClr val="0F1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10236434" y="2670048"/>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7"/>
          <p:cNvPicPr preferRelativeResize="0"/>
          <p:nvPr/>
        </p:nvPicPr>
        <p:blipFill rotWithShape="1">
          <a:blip r:embed="rId7">
            <a:alphaModFix/>
          </a:blip>
          <a:srcRect b="0" l="0" r="0" t="0"/>
          <a:stretch/>
        </p:blipFill>
        <p:spPr>
          <a:xfrm>
            <a:off x="10430744" y="2864358"/>
            <a:ext cx="388620" cy="388620"/>
          </a:xfrm>
          <a:prstGeom prst="rect">
            <a:avLst/>
          </a:prstGeom>
          <a:noFill/>
          <a:ln>
            <a:noFill/>
          </a:ln>
        </p:spPr>
      </p:pic>
      <p:sp>
        <p:nvSpPr>
          <p:cNvPr id="113" name="Google Shape;113;p7"/>
          <p:cNvSpPr/>
          <p:nvPr/>
        </p:nvSpPr>
        <p:spPr>
          <a:xfrm>
            <a:off x="9698492" y="3584448"/>
            <a:ext cx="1853123"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C55E"/>
              </a:buClr>
              <a:buSzPts val="1300"/>
              <a:buFont typeface="Arial"/>
              <a:buNone/>
            </a:pPr>
            <a:r>
              <a:rPr b="1" i="0" lang="en-US" sz="1300" u="none" cap="none" strike="noStrike">
                <a:solidFill>
                  <a:srgbClr val="22C55E"/>
                </a:solidFill>
                <a:latin typeface="Arial"/>
                <a:ea typeface="Arial"/>
                <a:cs typeface="Arial"/>
                <a:sym typeface="Arial"/>
              </a:rPr>
              <a:t>05</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9698492" y="3858768"/>
            <a:ext cx="1853123"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RIDE</a:t>
            </a:r>
            <a:endParaRPr b="0" i="0" sz="1600" u="none" cap="none" strike="noStrike">
              <a:solidFill>
                <a:schemeClr val="dk1"/>
              </a:solidFill>
              <a:latin typeface="Calibri"/>
              <a:ea typeface="Calibri"/>
              <a:cs typeface="Calibri"/>
              <a:sym typeface="Calibri"/>
            </a:endParaRPr>
          </a:p>
        </p:txBody>
      </p:sp>
      <p:sp>
        <p:nvSpPr>
          <p:cNvPr id="115" name="Google Shape;115;p7"/>
          <p:cNvSpPr/>
          <p:nvPr/>
        </p:nvSpPr>
        <p:spPr>
          <a:xfrm>
            <a:off x="9808220" y="4251960"/>
            <a:ext cx="1633667" cy="914400"/>
          </a:xfrm>
          <a:prstGeom prst="rect">
            <a:avLst/>
          </a:prstGeom>
          <a:noFill/>
          <a:ln>
            <a:noFill/>
          </a:ln>
        </p:spPr>
        <p:txBody>
          <a:bodyPr anchorCtr="0" anchor="t" bIns="45700" lIns="91425" spcFirstLastPara="1" rIns="91425" wrap="square" tIns="45700">
            <a:noAutofit/>
          </a:bodyPr>
          <a:lstStyle/>
          <a:p>
            <a:pPr indent="0" lvl="0" marL="0" marR="0" rtl="0" algn="ctr">
              <a:lnSpc>
                <a:spcPct val="110000"/>
              </a:lnSpc>
              <a:spcBef>
                <a:spcPts val="0"/>
              </a:spcBef>
              <a:spcAft>
                <a:spcPts val="0"/>
              </a:spcAft>
              <a:buClr>
                <a:srgbClr val="AEBFCC"/>
              </a:buClr>
              <a:buSzPts val="1300"/>
              <a:buFont typeface="Calibri"/>
              <a:buNone/>
            </a:pPr>
            <a:r>
              <a:rPr b="0" i="0" lang="en-US" sz="1300" u="none" cap="none" strike="noStrike">
                <a:solidFill>
                  <a:srgbClr val="AEBFCC"/>
                </a:solidFill>
                <a:latin typeface="Calibri"/>
                <a:ea typeface="Calibri"/>
                <a:cs typeface="Calibri"/>
                <a:sym typeface="Calibri"/>
              </a:rPr>
              <a:t>Get live safety alerts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20" name="Shape 120"/>
        <p:cNvGrpSpPr/>
        <p:nvPr/>
      </p:nvGrpSpPr>
      <p:grpSpPr>
        <a:xfrm>
          <a:off x="0" y="0"/>
          <a:ext cx="0" cy="0"/>
          <a:chOff x="0" y="0"/>
          <a:chExt cx="0" cy="0"/>
        </a:xfrm>
      </p:grpSpPr>
      <p:sp>
        <p:nvSpPr>
          <p:cNvPr id="121" name="Google Shape;121;p8"/>
          <p:cNvSpPr/>
          <p:nvPr/>
        </p:nvSpPr>
        <p:spPr>
          <a:xfrm>
            <a:off x="640080" y="438912"/>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22C55E"/>
                </a:solidFill>
                <a:latin typeface="Arial"/>
                <a:ea typeface="Arial"/>
                <a:cs typeface="Arial"/>
                <a:sym typeface="Arial"/>
              </a:rPr>
              <a:t>CORE FUNCTIONALITY</a:t>
            </a:r>
            <a:endParaRPr b="0" i="0" sz="1200" u="none" cap="none" strike="noStrike">
              <a:solidFill>
                <a:srgbClr val="22C55E"/>
              </a:solidFill>
              <a:latin typeface="Calibri"/>
              <a:ea typeface="Calibri"/>
              <a:cs typeface="Calibri"/>
              <a:sym typeface="Calibri"/>
            </a:endParaRPr>
          </a:p>
        </p:txBody>
      </p:sp>
      <p:sp>
        <p:nvSpPr>
          <p:cNvPr id="122" name="Google Shape;122;p8"/>
          <p:cNvSpPr/>
          <p:nvPr/>
        </p:nvSpPr>
        <p:spPr>
          <a:xfrm>
            <a:off x="10515600" y="402336"/>
            <a:ext cx="1033272"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05</a:t>
            </a:r>
            <a:endParaRPr b="0" i="0" sz="1300" u="none" cap="none" strike="noStrike">
              <a:solidFill>
                <a:schemeClr val="dk1"/>
              </a:solidFill>
              <a:latin typeface="Calibri"/>
              <a:ea typeface="Calibri"/>
              <a:cs typeface="Calibri"/>
              <a:sym typeface="Calibri"/>
            </a:endParaRPr>
          </a:p>
        </p:txBody>
      </p:sp>
      <p:sp>
        <p:nvSpPr>
          <p:cNvPr id="123" name="Google Shape;123;p8"/>
          <p:cNvSpPr/>
          <p:nvPr/>
        </p:nvSpPr>
        <p:spPr>
          <a:xfrm>
            <a:off x="621792" y="786384"/>
            <a:ext cx="109270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i="0" lang="en-US" sz="3400" u="none" cap="none" strike="noStrike">
                <a:solidFill>
                  <a:srgbClr val="11212F"/>
                </a:solidFill>
                <a:latin typeface="Arial"/>
                <a:ea typeface="Arial"/>
                <a:cs typeface="Arial"/>
                <a:sym typeface="Arial"/>
              </a:rPr>
              <a:t>Three features make </a:t>
            </a:r>
            <a:r>
              <a:rPr b="1" lang="en-US" sz="3400">
                <a:solidFill>
                  <a:srgbClr val="11212F"/>
                </a:solidFill>
              </a:rPr>
              <a:t>understanding</a:t>
            </a:r>
            <a:r>
              <a:rPr b="1" i="0" lang="en-US" sz="3400" u="none" cap="none" strike="noStrike">
                <a:solidFill>
                  <a:srgbClr val="11212F"/>
                </a:solidFill>
                <a:latin typeface="Arial"/>
                <a:ea typeface="Arial"/>
                <a:cs typeface="Arial"/>
                <a:sym typeface="Arial"/>
              </a:rPr>
              <a:t> the rules easier</a:t>
            </a:r>
            <a:endParaRPr b="0" i="0" sz="3400" u="none" cap="none" strike="noStrike">
              <a:solidFill>
                <a:schemeClr val="dk1"/>
              </a:solidFill>
              <a:latin typeface="Calibri"/>
              <a:ea typeface="Calibri"/>
              <a:cs typeface="Calibri"/>
              <a:sym typeface="Calibri"/>
            </a:endParaRPr>
          </a:p>
        </p:txBody>
      </p:sp>
      <p:sp>
        <p:nvSpPr>
          <p:cNvPr id="124" name="Google Shape;124;p8"/>
          <p:cNvSpPr/>
          <p:nvPr/>
        </p:nvSpPr>
        <p:spPr>
          <a:xfrm>
            <a:off x="640080" y="2148840"/>
            <a:ext cx="3520440" cy="3977640"/>
          </a:xfrm>
          <a:prstGeom prst="roundRect">
            <a:avLst>
              <a:gd fmla="val 3636" name="adj"/>
            </a:avLst>
          </a:prstGeom>
          <a:solidFill>
            <a:srgbClr val="FFFFFF"/>
          </a:solidFill>
          <a:ln cap="flat" cmpd="sng" w="12700">
            <a:solidFill>
              <a:srgbClr val="EAF0EE"/>
            </a:solidFill>
            <a:prstDash val="solid"/>
            <a:round/>
            <a:headEnd len="sm" w="sm" type="none"/>
            <a:tailEnd len="sm" w="sm" type="none"/>
          </a:ln>
          <a:effectLst>
            <a:outerShdw blurRad="152400" rotWithShape="0" algn="bl" dir="5400000" dist="50800">
              <a:srgbClr val="C9D6D2">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1051560" y="2560320"/>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8"/>
          <p:cNvPicPr preferRelativeResize="0"/>
          <p:nvPr/>
        </p:nvPicPr>
        <p:blipFill rotWithShape="1">
          <a:blip r:embed="rId3">
            <a:alphaModFix/>
          </a:blip>
          <a:srcRect b="0" l="0" r="0" t="0"/>
          <a:stretch/>
        </p:blipFill>
        <p:spPr>
          <a:xfrm>
            <a:off x="1245870" y="2754630"/>
            <a:ext cx="388620" cy="388620"/>
          </a:xfrm>
          <a:prstGeom prst="rect">
            <a:avLst/>
          </a:prstGeom>
          <a:noFill/>
          <a:ln>
            <a:noFill/>
          </a:ln>
        </p:spPr>
      </p:pic>
      <p:sp>
        <p:nvSpPr>
          <p:cNvPr id="127" name="Google Shape;127;p8"/>
          <p:cNvSpPr/>
          <p:nvPr/>
        </p:nvSpPr>
        <p:spPr>
          <a:xfrm>
            <a:off x="3291840" y="2606040"/>
            <a:ext cx="54864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BE6E1"/>
              </a:buClr>
              <a:buSzPts val="2600"/>
              <a:buFont typeface="Arial"/>
              <a:buNone/>
            </a:pPr>
            <a:r>
              <a:rPr b="1" i="0" lang="en-US" sz="2600" u="none" cap="none" strike="noStrike">
                <a:solidFill>
                  <a:srgbClr val="DBE6E1"/>
                </a:solidFill>
                <a:latin typeface="Arial"/>
                <a:ea typeface="Arial"/>
                <a:cs typeface="Arial"/>
                <a:sym typeface="Arial"/>
              </a:rPr>
              <a:t>01</a:t>
            </a:r>
            <a:endParaRPr b="0" i="0" sz="2600" u="none" cap="none" strike="noStrike">
              <a:solidFill>
                <a:schemeClr val="dk1"/>
              </a:solidFill>
              <a:latin typeface="Calibri"/>
              <a:ea typeface="Calibri"/>
              <a:cs typeface="Calibri"/>
              <a:sym typeface="Calibri"/>
            </a:endParaRPr>
          </a:p>
        </p:txBody>
      </p:sp>
      <p:sp>
        <p:nvSpPr>
          <p:cNvPr id="128" name="Google Shape;128;p8"/>
          <p:cNvSpPr/>
          <p:nvPr/>
        </p:nvSpPr>
        <p:spPr>
          <a:xfrm>
            <a:off x="1051560" y="3566160"/>
            <a:ext cx="2697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i="0" lang="en-US" sz="2100" u="none" cap="none" strike="noStrike">
                <a:solidFill>
                  <a:srgbClr val="11212F"/>
                </a:solidFill>
                <a:latin typeface="Arial"/>
                <a:ea typeface="Arial"/>
                <a:cs typeface="Arial"/>
                <a:sym typeface="Arial"/>
              </a:rPr>
              <a:t>Safety Map</a:t>
            </a:r>
            <a:endParaRPr b="0" i="0" sz="2100" u="none" cap="none" strike="noStrike">
              <a:solidFill>
                <a:schemeClr val="dk1"/>
              </a:solidFill>
              <a:latin typeface="Calibri"/>
              <a:ea typeface="Calibri"/>
              <a:cs typeface="Calibri"/>
              <a:sym typeface="Calibri"/>
            </a:endParaRPr>
          </a:p>
        </p:txBody>
      </p:sp>
      <p:sp>
        <p:nvSpPr>
          <p:cNvPr id="129" name="Google Shape;129;p8"/>
          <p:cNvSpPr/>
          <p:nvPr/>
        </p:nvSpPr>
        <p:spPr>
          <a:xfrm>
            <a:off x="1051560" y="4114800"/>
            <a:ext cx="274320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22000"/>
              </a:lnSpc>
              <a:spcBef>
                <a:spcPts val="0"/>
              </a:spcBef>
              <a:spcAft>
                <a:spcPts val="0"/>
              </a:spcAft>
              <a:buClr>
                <a:srgbClr val="5C6B7A"/>
              </a:buClr>
              <a:buSzPts val="1500"/>
              <a:buFont typeface="Calibri"/>
              <a:buNone/>
            </a:pPr>
            <a:r>
              <a:rPr b="0" i="0" lang="en-US" sz="1500" u="none" cap="none" strike="noStrike">
                <a:solidFill>
                  <a:srgbClr val="5C6B7A"/>
                </a:solidFill>
                <a:latin typeface="Calibri"/>
                <a:ea typeface="Calibri"/>
                <a:cs typeface="Calibri"/>
                <a:sym typeface="Calibri"/>
              </a:rPr>
              <a:t>Shows where each e-bike class is allowed, plus restricted trails, caution roads, schools, and local speed guidance.</a:t>
            </a:r>
            <a:endParaRPr b="0" i="0" sz="1500" u="none" cap="none" strike="noStrike">
              <a:solidFill>
                <a:schemeClr val="dk1"/>
              </a:solidFill>
              <a:latin typeface="Calibri"/>
              <a:ea typeface="Calibri"/>
              <a:cs typeface="Calibri"/>
              <a:sym typeface="Calibri"/>
            </a:endParaRPr>
          </a:p>
        </p:txBody>
      </p:sp>
      <p:sp>
        <p:nvSpPr>
          <p:cNvPr id="130" name="Google Shape;130;p8"/>
          <p:cNvSpPr/>
          <p:nvPr/>
        </p:nvSpPr>
        <p:spPr>
          <a:xfrm>
            <a:off x="4503420" y="2148840"/>
            <a:ext cx="3520440" cy="3977640"/>
          </a:xfrm>
          <a:prstGeom prst="roundRect">
            <a:avLst>
              <a:gd fmla="val 3636" name="adj"/>
            </a:avLst>
          </a:prstGeom>
          <a:solidFill>
            <a:srgbClr val="FFFFFF"/>
          </a:solidFill>
          <a:ln cap="flat" cmpd="sng" w="12700">
            <a:solidFill>
              <a:srgbClr val="EAF0EE"/>
            </a:solidFill>
            <a:prstDash val="solid"/>
            <a:round/>
            <a:headEnd len="sm" w="sm" type="none"/>
            <a:tailEnd len="sm" w="sm" type="none"/>
          </a:ln>
          <a:effectLst>
            <a:outerShdw blurRad="152400" rotWithShape="0" algn="bl" dir="5400000" dist="50800">
              <a:srgbClr val="C9D6D2">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4914900" y="2560320"/>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8"/>
          <p:cNvPicPr preferRelativeResize="0"/>
          <p:nvPr/>
        </p:nvPicPr>
        <p:blipFill rotWithShape="1">
          <a:blip r:embed="rId4">
            <a:alphaModFix/>
          </a:blip>
          <a:srcRect b="0" l="0" r="0" t="0"/>
          <a:stretch/>
        </p:blipFill>
        <p:spPr>
          <a:xfrm>
            <a:off x="5109210" y="2754630"/>
            <a:ext cx="388620" cy="388620"/>
          </a:xfrm>
          <a:prstGeom prst="rect">
            <a:avLst/>
          </a:prstGeom>
          <a:noFill/>
          <a:ln>
            <a:noFill/>
          </a:ln>
        </p:spPr>
      </p:pic>
      <p:sp>
        <p:nvSpPr>
          <p:cNvPr id="133" name="Google Shape;133;p8"/>
          <p:cNvSpPr/>
          <p:nvPr/>
        </p:nvSpPr>
        <p:spPr>
          <a:xfrm>
            <a:off x="7155180" y="2606040"/>
            <a:ext cx="54864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BE6E1"/>
              </a:buClr>
              <a:buSzPts val="2600"/>
              <a:buFont typeface="Arial"/>
              <a:buNone/>
            </a:pPr>
            <a:r>
              <a:rPr b="1" i="0" lang="en-US" sz="2600" u="none" cap="none" strike="noStrike">
                <a:solidFill>
                  <a:srgbClr val="DBE6E1"/>
                </a:solidFill>
                <a:latin typeface="Arial"/>
                <a:ea typeface="Arial"/>
                <a:cs typeface="Arial"/>
                <a:sym typeface="Arial"/>
              </a:rPr>
              <a:t>02</a:t>
            </a:r>
            <a:endParaRPr b="0" i="0" sz="2600" u="none" cap="none" strike="noStrike">
              <a:solidFill>
                <a:schemeClr val="dk1"/>
              </a:solidFill>
              <a:latin typeface="Calibri"/>
              <a:ea typeface="Calibri"/>
              <a:cs typeface="Calibri"/>
              <a:sym typeface="Calibri"/>
            </a:endParaRPr>
          </a:p>
        </p:txBody>
      </p:sp>
      <p:sp>
        <p:nvSpPr>
          <p:cNvPr id="134" name="Google Shape;134;p8"/>
          <p:cNvSpPr/>
          <p:nvPr/>
        </p:nvSpPr>
        <p:spPr>
          <a:xfrm>
            <a:off x="4914900" y="3566160"/>
            <a:ext cx="2697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i="0" lang="en-US" sz="2100" u="none" cap="none" strike="noStrike">
                <a:solidFill>
                  <a:srgbClr val="11212F"/>
                </a:solidFill>
                <a:latin typeface="Arial"/>
                <a:ea typeface="Arial"/>
                <a:cs typeface="Arial"/>
                <a:sym typeface="Arial"/>
              </a:rPr>
              <a:t>eRide School</a:t>
            </a:r>
            <a:endParaRPr b="0" i="0" sz="2100" u="none" cap="none" strike="noStrike">
              <a:solidFill>
                <a:schemeClr val="dk1"/>
              </a:solidFill>
              <a:latin typeface="Calibri"/>
              <a:ea typeface="Calibri"/>
              <a:cs typeface="Calibri"/>
              <a:sym typeface="Calibri"/>
            </a:endParaRPr>
          </a:p>
        </p:txBody>
      </p:sp>
      <p:sp>
        <p:nvSpPr>
          <p:cNvPr id="135" name="Google Shape;135;p8"/>
          <p:cNvSpPr/>
          <p:nvPr/>
        </p:nvSpPr>
        <p:spPr>
          <a:xfrm>
            <a:off x="4914900" y="4114800"/>
            <a:ext cx="274320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22000"/>
              </a:lnSpc>
              <a:spcBef>
                <a:spcPts val="0"/>
              </a:spcBef>
              <a:spcAft>
                <a:spcPts val="0"/>
              </a:spcAft>
              <a:buClr>
                <a:srgbClr val="5C6B7A"/>
              </a:buClr>
              <a:buSzPts val="1500"/>
              <a:buFont typeface="Calibri"/>
              <a:buNone/>
            </a:pPr>
            <a:r>
              <a:rPr b="0" i="0" lang="en-US" sz="1500" u="none" cap="none" strike="noStrike">
                <a:solidFill>
                  <a:srgbClr val="5C6B7A"/>
                </a:solidFill>
                <a:latin typeface="Calibri"/>
                <a:ea typeface="Calibri"/>
                <a:cs typeface="Calibri"/>
                <a:sym typeface="Calibri"/>
              </a:rPr>
              <a:t>Five short lessons and a quiz teach the rules. Riders can track progress and earn a certificate.</a:t>
            </a:r>
            <a:endParaRPr b="0" i="0" sz="1500" u="none" cap="none" strike="noStrike">
              <a:solidFill>
                <a:schemeClr val="dk1"/>
              </a:solidFill>
              <a:latin typeface="Calibri"/>
              <a:ea typeface="Calibri"/>
              <a:cs typeface="Calibri"/>
              <a:sym typeface="Calibri"/>
            </a:endParaRPr>
          </a:p>
        </p:txBody>
      </p:sp>
      <p:sp>
        <p:nvSpPr>
          <p:cNvPr id="136" name="Google Shape;136;p8"/>
          <p:cNvSpPr/>
          <p:nvPr/>
        </p:nvSpPr>
        <p:spPr>
          <a:xfrm>
            <a:off x="8366760" y="2148840"/>
            <a:ext cx="3520500" cy="3977700"/>
          </a:xfrm>
          <a:prstGeom prst="roundRect">
            <a:avLst>
              <a:gd fmla="val 3636" name="adj"/>
            </a:avLst>
          </a:prstGeom>
          <a:solidFill>
            <a:srgbClr val="FFFFFF"/>
          </a:solidFill>
          <a:ln cap="flat" cmpd="sng" w="12700">
            <a:solidFill>
              <a:srgbClr val="EAF0EE"/>
            </a:solidFill>
            <a:prstDash val="solid"/>
            <a:round/>
            <a:headEnd len="sm" w="sm" type="none"/>
            <a:tailEnd len="sm" w="sm" type="none"/>
          </a:ln>
          <a:effectLst>
            <a:outerShdw blurRad="152400" rotWithShape="0" algn="bl" dir="5400000" dist="50800">
              <a:srgbClr val="C9D6D2">
                <a:alpha val="5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8778240" y="2560320"/>
            <a:ext cx="777240" cy="7772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8"/>
          <p:cNvPicPr preferRelativeResize="0"/>
          <p:nvPr/>
        </p:nvPicPr>
        <p:blipFill rotWithShape="1">
          <a:blip r:embed="rId5">
            <a:alphaModFix/>
          </a:blip>
          <a:srcRect b="0" l="0" r="0" t="0"/>
          <a:stretch/>
        </p:blipFill>
        <p:spPr>
          <a:xfrm>
            <a:off x="8972550" y="2754630"/>
            <a:ext cx="388620" cy="388620"/>
          </a:xfrm>
          <a:prstGeom prst="rect">
            <a:avLst/>
          </a:prstGeom>
          <a:noFill/>
          <a:ln>
            <a:noFill/>
          </a:ln>
        </p:spPr>
      </p:pic>
      <p:sp>
        <p:nvSpPr>
          <p:cNvPr id="139" name="Google Shape;139;p8"/>
          <p:cNvSpPr/>
          <p:nvPr/>
        </p:nvSpPr>
        <p:spPr>
          <a:xfrm>
            <a:off x="11018520" y="2606040"/>
            <a:ext cx="54864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DBE6E1"/>
              </a:buClr>
              <a:buSzPts val="2600"/>
              <a:buFont typeface="Arial"/>
              <a:buNone/>
            </a:pPr>
            <a:r>
              <a:rPr b="1" i="0" lang="en-US" sz="2600" u="none" cap="none" strike="noStrike">
                <a:solidFill>
                  <a:srgbClr val="DBE6E1"/>
                </a:solidFill>
                <a:latin typeface="Arial"/>
                <a:ea typeface="Arial"/>
                <a:cs typeface="Arial"/>
                <a:sym typeface="Arial"/>
              </a:rPr>
              <a:t>03</a:t>
            </a:r>
            <a:endParaRPr b="0" i="0" sz="2600" u="none" cap="none" strike="noStrike">
              <a:solidFill>
                <a:schemeClr val="dk1"/>
              </a:solidFill>
              <a:latin typeface="Calibri"/>
              <a:ea typeface="Calibri"/>
              <a:cs typeface="Calibri"/>
              <a:sym typeface="Calibri"/>
            </a:endParaRPr>
          </a:p>
        </p:txBody>
      </p:sp>
      <p:sp>
        <p:nvSpPr>
          <p:cNvPr id="140" name="Google Shape;140;p8"/>
          <p:cNvSpPr/>
          <p:nvPr/>
        </p:nvSpPr>
        <p:spPr>
          <a:xfrm>
            <a:off x="8778255" y="3566150"/>
            <a:ext cx="2859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i="0" lang="en-US" sz="2100" u="none" cap="none" strike="noStrike">
                <a:solidFill>
                  <a:srgbClr val="11212F"/>
                </a:solidFill>
                <a:latin typeface="Arial"/>
                <a:ea typeface="Arial"/>
                <a:cs typeface="Arial"/>
                <a:sym typeface="Arial"/>
              </a:rPr>
              <a:t>Community Reports</a:t>
            </a:r>
            <a:endParaRPr b="0" i="0" sz="2100" u="none" cap="none" strike="noStrike">
              <a:solidFill>
                <a:schemeClr val="dk1"/>
              </a:solidFill>
              <a:latin typeface="Calibri"/>
              <a:ea typeface="Calibri"/>
              <a:cs typeface="Calibri"/>
              <a:sym typeface="Calibri"/>
            </a:endParaRPr>
          </a:p>
        </p:txBody>
      </p:sp>
      <p:sp>
        <p:nvSpPr>
          <p:cNvPr id="141" name="Google Shape;141;p8"/>
          <p:cNvSpPr/>
          <p:nvPr/>
        </p:nvSpPr>
        <p:spPr>
          <a:xfrm>
            <a:off x="8778240" y="4114825"/>
            <a:ext cx="2743200" cy="1737300"/>
          </a:xfrm>
          <a:prstGeom prst="rect">
            <a:avLst/>
          </a:prstGeom>
          <a:noFill/>
          <a:ln>
            <a:noFill/>
          </a:ln>
        </p:spPr>
        <p:txBody>
          <a:bodyPr anchorCtr="0" anchor="t" bIns="45700" lIns="91425" spcFirstLastPara="1" rIns="91425" wrap="square" tIns="45700">
            <a:noAutofit/>
          </a:bodyPr>
          <a:lstStyle/>
          <a:p>
            <a:pPr indent="0" lvl="0" marL="0" marR="0" rtl="0" algn="l">
              <a:lnSpc>
                <a:spcPct val="122000"/>
              </a:lnSpc>
              <a:spcBef>
                <a:spcPts val="0"/>
              </a:spcBef>
              <a:spcAft>
                <a:spcPts val="0"/>
              </a:spcAft>
              <a:buClr>
                <a:srgbClr val="5C6B7A"/>
              </a:buClr>
              <a:buSzPts val="1500"/>
              <a:buFont typeface="Calibri"/>
              <a:buNone/>
            </a:pPr>
            <a:r>
              <a:rPr b="0" i="0" lang="en-US" sz="1500" u="none" cap="none" strike="noStrike">
                <a:solidFill>
                  <a:srgbClr val="5C6B7A"/>
                </a:solidFill>
                <a:latin typeface="Calibri"/>
                <a:ea typeface="Calibri"/>
                <a:cs typeface="Calibri"/>
                <a:sym typeface="Calibri"/>
              </a:rPr>
              <a:t>Riders can report hazards. </a:t>
            </a:r>
            <a:r>
              <a:rPr lang="en-US" sz="1500">
                <a:solidFill>
                  <a:srgbClr val="5C6B7A"/>
                </a:solidFill>
                <a:latin typeface="Calibri"/>
                <a:ea typeface="Calibri"/>
                <a:cs typeface="Calibri"/>
                <a:sym typeface="Calibri"/>
              </a:rPr>
              <a:t>The backend </a:t>
            </a:r>
            <a:r>
              <a:rPr b="0" i="0" lang="en-US" sz="1500" u="none" cap="none" strike="noStrike">
                <a:solidFill>
                  <a:srgbClr val="5C6B7A"/>
                </a:solidFill>
                <a:latin typeface="Calibri"/>
                <a:ea typeface="Calibri"/>
                <a:cs typeface="Calibri"/>
                <a:sym typeface="Calibri"/>
              </a:rPr>
              <a:t>syncs the reports so everyone sees the latest information.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6F9F8"/>
        </a:solidFill>
      </p:bgPr>
    </p:bg>
    <p:spTree>
      <p:nvGrpSpPr>
        <p:cNvPr id="146" name="Shape 146"/>
        <p:cNvGrpSpPr/>
        <p:nvPr/>
      </p:nvGrpSpPr>
      <p:grpSpPr>
        <a:xfrm>
          <a:off x="0" y="0"/>
          <a:ext cx="0" cy="0"/>
          <a:chOff x="0" y="0"/>
          <a:chExt cx="0" cy="0"/>
        </a:xfrm>
      </p:grpSpPr>
      <p:sp>
        <p:nvSpPr>
          <p:cNvPr id="147" name="Google Shape;147;p9"/>
          <p:cNvSpPr/>
          <p:nvPr/>
        </p:nvSpPr>
        <p:spPr>
          <a:xfrm>
            <a:off x="640080" y="43891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22C55E"/>
                </a:solidFill>
                <a:latin typeface="Arial"/>
                <a:ea typeface="Arial"/>
                <a:cs typeface="Arial"/>
                <a:sym typeface="Arial"/>
              </a:rPr>
              <a:t>LIVE RIDE MODE</a:t>
            </a:r>
            <a:endParaRPr b="0" i="0" sz="1200" u="none" cap="none" strike="noStrike">
              <a:solidFill>
                <a:srgbClr val="22C55E"/>
              </a:solidFill>
              <a:latin typeface="Calibri"/>
              <a:ea typeface="Calibri"/>
              <a:cs typeface="Calibri"/>
              <a:sym typeface="Calibri"/>
            </a:endParaRPr>
          </a:p>
        </p:txBody>
      </p:sp>
      <p:sp>
        <p:nvSpPr>
          <p:cNvPr id="148" name="Google Shape;148;p9"/>
          <p:cNvSpPr/>
          <p:nvPr/>
        </p:nvSpPr>
        <p:spPr>
          <a:xfrm>
            <a:off x="10515600" y="402336"/>
            <a:ext cx="10332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06</a:t>
            </a:r>
            <a:endParaRPr b="0" i="0" sz="1300" u="none" cap="none" strike="noStrike">
              <a:solidFill>
                <a:schemeClr val="dk1"/>
              </a:solidFill>
              <a:latin typeface="Calibri"/>
              <a:ea typeface="Calibri"/>
              <a:cs typeface="Calibri"/>
              <a:sym typeface="Calibri"/>
            </a:endParaRPr>
          </a:p>
        </p:txBody>
      </p:sp>
      <p:sp>
        <p:nvSpPr>
          <p:cNvPr id="149" name="Google Shape;149;p9"/>
          <p:cNvSpPr/>
          <p:nvPr/>
        </p:nvSpPr>
        <p:spPr>
          <a:xfrm>
            <a:off x="621792" y="786384"/>
            <a:ext cx="109272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i="0" lang="en-US" sz="3400" u="none" cap="none" strike="noStrike">
                <a:solidFill>
                  <a:srgbClr val="11212F"/>
                </a:solidFill>
                <a:latin typeface="Arial"/>
                <a:ea typeface="Arial"/>
                <a:cs typeface="Arial"/>
                <a:sym typeface="Arial"/>
              </a:rPr>
              <a:t>Ride Mode keeps alerts simple</a:t>
            </a:r>
            <a:endParaRPr b="0" i="0" sz="3400" u="none" cap="none" strike="noStrike">
              <a:solidFill>
                <a:schemeClr val="dk1"/>
              </a:solidFill>
              <a:latin typeface="Calibri"/>
              <a:ea typeface="Calibri"/>
              <a:cs typeface="Calibri"/>
              <a:sym typeface="Calibri"/>
            </a:endParaRPr>
          </a:p>
        </p:txBody>
      </p:sp>
      <p:sp>
        <p:nvSpPr>
          <p:cNvPr id="150" name="Google Shape;150;p9"/>
          <p:cNvSpPr/>
          <p:nvPr/>
        </p:nvSpPr>
        <p:spPr>
          <a:xfrm>
            <a:off x="640080" y="1965960"/>
            <a:ext cx="4434900" cy="4069200"/>
          </a:xfrm>
          <a:prstGeom prst="roundRect">
            <a:avLst>
              <a:gd fmla="val 3596" name="adj"/>
            </a:avLst>
          </a:prstGeom>
          <a:solidFill>
            <a:srgbClr val="0F1E2E"/>
          </a:solidFill>
          <a:ln>
            <a:noFill/>
          </a:ln>
          <a:effectLst>
            <a:outerShdw blurRad="203200" rotWithShape="0" algn="bl" dir="5400000" dist="76200">
              <a:srgbClr val="1E3346">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640080" y="2423160"/>
            <a:ext cx="44349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2C55E"/>
              </a:buClr>
              <a:buSzPts val="9600"/>
              <a:buFont typeface="Arial"/>
              <a:buNone/>
            </a:pPr>
            <a:r>
              <a:rPr b="1" i="0" lang="en-US" sz="9600" u="none" cap="none" strike="noStrike">
                <a:solidFill>
                  <a:srgbClr val="22C55E"/>
                </a:solidFill>
                <a:latin typeface="Arial"/>
                <a:ea typeface="Arial"/>
                <a:cs typeface="Arial"/>
                <a:sym typeface="Arial"/>
              </a:rPr>
              <a:t>17</a:t>
            </a:r>
            <a:endParaRPr b="0" i="0" sz="9600" u="none" cap="none" strike="noStrike">
              <a:solidFill>
                <a:schemeClr val="dk1"/>
              </a:solidFill>
              <a:latin typeface="Calibri"/>
              <a:ea typeface="Calibri"/>
              <a:cs typeface="Calibri"/>
              <a:sym typeface="Calibri"/>
            </a:endParaRPr>
          </a:p>
        </p:txBody>
      </p:sp>
      <p:sp>
        <p:nvSpPr>
          <p:cNvPr id="152" name="Google Shape;152;p9"/>
          <p:cNvSpPr/>
          <p:nvPr/>
        </p:nvSpPr>
        <p:spPr>
          <a:xfrm>
            <a:off x="640080" y="3840480"/>
            <a:ext cx="44349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FCC"/>
              </a:buClr>
              <a:buSzPts val="1800"/>
              <a:buFont typeface="Arial"/>
              <a:buNone/>
            </a:pPr>
            <a:r>
              <a:rPr b="1" i="0" lang="en-US" sz="1800" u="none" cap="none" strike="noStrike">
                <a:solidFill>
                  <a:srgbClr val="AEBFCC"/>
                </a:solidFill>
                <a:latin typeface="Arial"/>
                <a:ea typeface="Arial"/>
                <a:cs typeface="Arial"/>
                <a:sym typeface="Arial"/>
              </a:rPr>
              <a:t>MPH</a:t>
            </a:r>
            <a:endParaRPr b="0" i="0" sz="1800" u="none" cap="none" strike="noStrike">
              <a:solidFill>
                <a:schemeClr val="dk1"/>
              </a:solidFill>
              <a:latin typeface="Calibri"/>
              <a:ea typeface="Calibri"/>
              <a:cs typeface="Calibri"/>
              <a:sym typeface="Calibri"/>
            </a:endParaRPr>
          </a:p>
        </p:txBody>
      </p:sp>
      <p:sp>
        <p:nvSpPr>
          <p:cNvPr id="153" name="Google Shape;153;p9"/>
          <p:cNvSpPr/>
          <p:nvPr/>
        </p:nvSpPr>
        <p:spPr>
          <a:xfrm>
            <a:off x="1600200" y="4480560"/>
            <a:ext cx="2514600" cy="567000"/>
          </a:xfrm>
          <a:prstGeom prst="roundRect">
            <a:avLst>
              <a:gd fmla="val 50000" name="adj"/>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1600200" y="4480560"/>
            <a:ext cx="2514600" cy="567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1E2E"/>
              </a:buClr>
              <a:buSzPts val="1400"/>
              <a:buFont typeface="Arial"/>
              <a:buNone/>
            </a:pPr>
            <a:r>
              <a:rPr b="1" i="0" lang="en-US" sz="1400" u="none" cap="none" strike="noStrike">
                <a:solidFill>
                  <a:srgbClr val="0F1E2E"/>
                </a:solidFill>
                <a:latin typeface="Arial"/>
                <a:ea typeface="Arial"/>
                <a:cs typeface="Arial"/>
                <a:sym typeface="Arial"/>
              </a:rPr>
              <a:t>UNDER LIMIT</a:t>
            </a:r>
            <a:endParaRPr b="0" i="0" sz="1400" u="none" cap="none" strike="noStrike">
              <a:solidFill>
                <a:schemeClr val="dk1"/>
              </a:solidFill>
              <a:latin typeface="Calibri"/>
              <a:ea typeface="Calibri"/>
              <a:cs typeface="Calibri"/>
              <a:sym typeface="Calibri"/>
            </a:endParaRPr>
          </a:p>
        </p:txBody>
      </p:sp>
      <p:sp>
        <p:nvSpPr>
          <p:cNvPr id="155" name="Google Shape;155;p9"/>
          <p:cNvSpPr/>
          <p:nvPr/>
        </p:nvSpPr>
        <p:spPr>
          <a:xfrm>
            <a:off x="914400" y="5367528"/>
            <a:ext cx="38862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1AF"/>
              </a:buClr>
              <a:buSzPts val="1300"/>
              <a:buFont typeface="Calibri"/>
              <a:buNone/>
            </a:pPr>
            <a:r>
              <a:rPr b="0" i="0" lang="en-US" sz="1300" u="none" cap="none" strike="noStrike">
                <a:solidFill>
                  <a:srgbClr val="8FA1AF"/>
                </a:solidFill>
                <a:latin typeface="Calibri"/>
                <a:ea typeface="Calibri"/>
                <a:cs typeface="Calibri"/>
                <a:sym typeface="Calibri"/>
              </a:rPr>
              <a:t>Example: Sammamish River Trail  •  20 mph</a:t>
            </a:r>
            <a:endParaRPr b="0" i="0" sz="1300" u="none" cap="none" strike="noStrike">
              <a:solidFill>
                <a:schemeClr val="dk1"/>
              </a:solidFill>
              <a:latin typeface="Calibri"/>
              <a:ea typeface="Calibri"/>
              <a:cs typeface="Calibri"/>
              <a:sym typeface="Calibri"/>
            </a:endParaRPr>
          </a:p>
        </p:txBody>
      </p:sp>
      <p:sp>
        <p:nvSpPr>
          <p:cNvPr id="156" name="Google Shape;156;p9"/>
          <p:cNvSpPr/>
          <p:nvPr/>
        </p:nvSpPr>
        <p:spPr>
          <a:xfrm>
            <a:off x="5532120" y="2130552"/>
            <a:ext cx="621900" cy="6219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 name="Google Shape;157;p9"/>
          <p:cNvPicPr preferRelativeResize="0"/>
          <p:nvPr/>
        </p:nvPicPr>
        <p:blipFill rotWithShape="1">
          <a:blip r:embed="rId3">
            <a:alphaModFix/>
          </a:blip>
          <a:srcRect b="0" l="0" r="0" t="0"/>
          <a:stretch/>
        </p:blipFill>
        <p:spPr>
          <a:xfrm>
            <a:off x="5687568" y="2286000"/>
            <a:ext cx="310896" cy="310896"/>
          </a:xfrm>
          <a:prstGeom prst="rect">
            <a:avLst/>
          </a:prstGeom>
          <a:noFill/>
          <a:ln>
            <a:noFill/>
          </a:ln>
        </p:spPr>
      </p:pic>
      <p:sp>
        <p:nvSpPr>
          <p:cNvPr id="158" name="Google Shape;158;p9"/>
          <p:cNvSpPr/>
          <p:nvPr/>
        </p:nvSpPr>
        <p:spPr>
          <a:xfrm>
            <a:off x="6400800" y="2057400"/>
            <a:ext cx="50748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PRE-RIDE</a:t>
            </a:r>
            <a:endParaRPr b="0" i="0" sz="1300" u="none" cap="none" strike="noStrike">
              <a:solidFill>
                <a:schemeClr val="dk1"/>
              </a:solidFill>
              <a:latin typeface="Calibri"/>
              <a:ea typeface="Calibri"/>
              <a:cs typeface="Calibri"/>
              <a:sym typeface="Calibri"/>
            </a:endParaRPr>
          </a:p>
        </p:txBody>
      </p:sp>
      <p:sp>
        <p:nvSpPr>
          <p:cNvPr id="159" name="Google Shape;159;p9"/>
          <p:cNvSpPr/>
          <p:nvPr/>
        </p:nvSpPr>
        <p:spPr>
          <a:xfrm>
            <a:off x="6400800" y="2377440"/>
            <a:ext cx="5074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1212F"/>
              </a:buClr>
              <a:buSzPts val="1700"/>
              <a:buFont typeface="Calibri"/>
              <a:buNone/>
            </a:pPr>
            <a:r>
              <a:rPr b="1" i="0" lang="en-US" sz="1700" u="none" cap="none" strike="noStrike">
                <a:solidFill>
                  <a:srgbClr val="11212F"/>
                </a:solidFill>
                <a:latin typeface="Calibri"/>
                <a:ea typeface="Calibri"/>
                <a:cs typeface="Calibri"/>
                <a:sym typeface="Calibri"/>
              </a:rPr>
              <a:t>Finish a quick safety checklist</a:t>
            </a:r>
            <a:endParaRPr b="0" i="0" sz="1700" u="none" cap="none" strike="noStrike">
              <a:solidFill>
                <a:schemeClr val="dk1"/>
              </a:solidFill>
              <a:latin typeface="Calibri"/>
              <a:ea typeface="Calibri"/>
              <a:cs typeface="Calibri"/>
              <a:sym typeface="Calibri"/>
            </a:endParaRPr>
          </a:p>
        </p:txBody>
      </p:sp>
      <p:cxnSp>
        <p:nvCxnSpPr>
          <p:cNvPr id="160" name="Google Shape;160;p9"/>
          <p:cNvCxnSpPr/>
          <p:nvPr/>
        </p:nvCxnSpPr>
        <p:spPr>
          <a:xfrm>
            <a:off x="6400800" y="2944368"/>
            <a:ext cx="4983600" cy="0"/>
          </a:xfrm>
          <a:prstGeom prst="straightConnector1">
            <a:avLst/>
          </a:prstGeom>
          <a:noFill/>
          <a:ln cap="flat" cmpd="sng" w="12700">
            <a:solidFill>
              <a:srgbClr val="E4EBE9"/>
            </a:solidFill>
            <a:prstDash val="solid"/>
            <a:round/>
            <a:headEnd len="sm" w="sm" type="none"/>
            <a:tailEnd len="sm" w="sm" type="none"/>
          </a:ln>
        </p:spPr>
      </p:cxnSp>
      <p:sp>
        <p:nvSpPr>
          <p:cNvPr id="161" name="Google Shape;161;p9"/>
          <p:cNvSpPr/>
          <p:nvPr/>
        </p:nvSpPr>
        <p:spPr>
          <a:xfrm>
            <a:off x="5532120" y="3154680"/>
            <a:ext cx="621900" cy="6219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 name="Google Shape;162;p9"/>
          <p:cNvPicPr preferRelativeResize="0"/>
          <p:nvPr/>
        </p:nvPicPr>
        <p:blipFill rotWithShape="1">
          <a:blip r:embed="rId4">
            <a:alphaModFix/>
          </a:blip>
          <a:srcRect b="0" l="0" r="0" t="0"/>
          <a:stretch/>
        </p:blipFill>
        <p:spPr>
          <a:xfrm>
            <a:off x="5687568" y="3310128"/>
            <a:ext cx="310896" cy="310896"/>
          </a:xfrm>
          <a:prstGeom prst="rect">
            <a:avLst/>
          </a:prstGeom>
          <a:noFill/>
          <a:ln>
            <a:noFill/>
          </a:ln>
        </p:spPr>
      </p:pic>
      <p:sp>
        <p:nvSpPr>
          <p:cNvPr id="163" name="Google Shape;163;p9"/>
          <p:cNvSpPr/>
          <p:nvPr/>
        </p:nvSpPr>
        <p:spPr>
          <a:xfrm>
            <a:off x="6400800" y="3081528"/>
            <a:ext cx="50748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LIVE SPEED</a:t>
            </a:r>
            <a:endParaRPr b="0" i="0" sz="1300" u="none" cap="none" strike="noStrike">
              <a:solidFill>
                <a:schemeClr val="dk1"/>
              </a:solidFill>
              <a:latin typeface="Calibri"/>
              <a:ea typeface="Calibri"/>
              <a:cs typeface="Calibri"/>
              <a:sym typeface="Calibri"/>
            </a:endParaRPr>
          </a:p>
        </p:txBody>
      </p:sp>
      <p:sp>
        <p:nvSpPr>
          <p:cNvPr id="164" name="Google Shape;164;p9"/>
          <p:cNvSpPr/>
          <p:nvPr/>
        </p:nvSpPr>
        <p:spPr>
          <a:xfrm>
            <a:off x="6400800" y="3401568"/>
            <a:ext cx="5074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1212F"/>
              </a:buClr>
              <a:buSzPts val="1700"/>
              <a:buFont typeface="Calibri"/>
              <a:buNone/>
            </a:pPr>
            <a:r>
              <a:rPr b="1" i="0" lang="en-US" sz="1700" u="none" cap="none" strike="noStrike">
                <a:solidFill>
                  <a:srgbClr val="11212F"/>
                </a:solidFill>
                <a:latin typeface="Calibri"/>
                <a:ea typeface="Calibri"/>
                <a:cs typeface="Calibri"/>
                <a:sym typeface="Calibri"/>
              </a:rPr>
              <a:t>Compare GPS speed with the zone limit</a:t>
            </a:r>
            <a:endParaRPr b="0" i="0" sz="1700" u="none" cap="none" strike="noStrike">
              <a:solidFill>
                <a:schemeClr val="dk1"/>
              </a:solidFill>
              <a:latin typeface="Calibri"/>
              <a:ea typeface="Calibri"/>
              <a:cs typeface="Calibri"/>
              <a:sym typeface="Calibri"/>
            </a:endParaRPr>
          </a:p>
        </p:txBody>
      </p:sp>
      <p:cxnSp>
        <p:nvCxnSpPr>
          <p:cNvPr id="165" name="Google Shape;165;p9"/>
          <p:cNvCxnSpPr/>
          <p:nvPr/>
        </p:nvCxnSpPr>
        <p:spPr>
          <a:xfrm>
            <a:off x="6400800" y="3968496"/>
            <a:ext cx="4983600" cy="0"/>
          </a:xfrm>
          <a:prstGeom prst="straightConnector1">
            <a:avLst/>
          </a:prstGeom>
          <a:noFill/>
          <a:ln cap="flat" cmpd="sng" w="12700">
            <a:solidFill>
              <a:srgbClr val="E4EBE9"/>
            </a:solidFill>
            <a:prstDash val="solid"/>
            <a:round/>
            <a:headEnd len="sm" w="sm" type="none"/>
            <a:tailEnd len="sm" w="sm" type="none"/>
          </a:ln>
        </p:spPr>
      </p:cxnSp>
      <p:sp>
        <p:nvSpPr>
          <p:cNvPr id="166" name="Google Shape;166;p9"/>
          <p:cNvSpPr/>
          <p:nvPr/>
        </p:nvSpPr>
        <p:spPr>
          <a:xfrm>
            <a:off x="5532120" y="4178808"/>
            <a:ext cx="621900" cy="6219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 name="Google Shape;167;p9"/>
          <p:cNvPicPr preferRelativeResize="0"/>
          <p:nvPr/>
        </p:nvPicPr>
        <p:blipFill rotWithShape="1">
          <a:blip r:embed="rId5">
            <a:alphaModFix/>
          </a:blip>
          <a:srcRect b="0" l="0" r="0" t="0"/>
          <a:stretch/>
        </p:blipFill>
        <p:spPr>
          <a:xfrm>
            <a:off x="5687568" y="4334256"/>
            <a:ext cx="310896" cy="310896"/>
          </a:xfrm>
          <a:prstGeom prst="rect">
            <a:avLst/>
          </a:prstGeom>
          <a:noFill/>
          <a:ln>
            <a:noFill/>
          </a:ln>
        </p:spPr>
      </p:pic>
      <p:sp>
        <p:nvSpPr>
          <p:cNvPr id="168" name="Google Shape;168;p9"/>
          <p:cNvSpPr/>
          <p:nvPr/>
        </p:nvSpPr>
        <p:spPr>
          <a:xfrm>
            <a:off x="6400800" y="4105656"/>
            <a:ext cx="50748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MOTION</a:t>
            </a:r>
            <a:endParaRPr b="0" i="0" sz="1300" u="none" cap="none" strike="noStrike">
              <a:solidFill>
                <a:schemeClr val="dk1"/>
              </a:solidFill>
              <a:latin typeface="Calibri"/>
              <a:ea typeface="Calibri"/>
              <a:cs typeface="Calibri"/>
              <a:sym typeface="Calibri"/>
            </a:endParaRPr>
          </a:p>
        </p:txBody>
      </p:sp>
      <p:sp>
        <p:nvSpPr>
          <p:cNvPr id="169" name="Google Shape;169;p9"/>
          <p:cNvSpPr/>
          <p:nvPr/>
        </p:nvSpPr>
        <p:spPr>
          <a:xfrm>
            <a:off x="6400800" y="4425696"/>
            <a:ext cx="5074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1212F"/>
              </a:buClr>
              <a:buSzPts val="1700"/>
              <a:buFont typeface="Calibri"/>
              <a:buNone/>
            </a:pPr>
            <a:r>
              <a:rPr b="1" i="0" lang="en-US" sz="1700" u="none" cap="none" strike="noStrike">
                <a:solidFill>
                  <a:srgbClr val="11212F"/>
                </a:solidFill>
                <a:latin typeface="Calibri"/>
                <a:ea typeface="Calibri"/>
                <a:cs typeface="Calibri"/>
                <a:sym typeface="Calibri"/>
              </a:rPr>
              <a:t>Detect rough or sudden phone movement</a:t>
            </a:r>
            <a:endParaRPr b="0" i="0" sz="1700" u="none" cap="none" strike="noStrike">
              <a:solidFill>
                <a:schemeClr val="dk1"/>
              </a:solidFill>
              <a:latin typeface="Calibri"/>
              <a:ea typeface="Calibri"/>
              <a:cs typeface="Calibri"/>
              <a:sym typeface="Calibri"/>
            </a:endParaRPr>
          </a:p>
        </p:txBody>
      </p:sp>
      <p:cxnSp>
        <p:nvCxnSpPr>
          <p:cNvPr id="170" name="Google Shape;170;p9"/>
          <p:cNvCxnSpPr/>
          <p:nvPr/>
        </p:nvCxnSpPr>
        <p:spPr>
          <a:xfrm>
            <a:off x="6400800" y="4992624"/>
            <a:ext cx="4983600" cy="0"/>
          </a:xfrm>
          <a:prstGeom prst="straightConnector1">
            <a:avLst/>
          </a:prstGeom>
          <a:noFill/>
          <a:ln cap="flat" cmpd="sng" w="12700">
            <a:solidFill>
              <a:srgbClr val="E4EBE9"/>
            </a:solidFill>
            <a:prstDash val="solid"/>
            <a:round/>
            <a:headEnd len="sm" w="sm" type="none"/>
            <a:tailEnd len="sm" w="sm" type="none"/>
          </a:ln>
        </p:spPr>
      </p:cxnSp>
      <p:sp>
        <p:nvSpPr>
          <p:cNvPr id="171" name="Google Shape;171;p9"/>
          <p:cNvSpPr/>
          <p:nvPr/>
        </p:nvSpPr>
        <p:spPr>
          <a:xfrm>
            <a:off x="5532120" y="5202936"/>
            <a:ext cx="621900" cy="6219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9"/>
          <p:cNvPicPr preferRelativeResize="0"/>
          <p:nvPr/>
        </p:nvPicPr>
        <p:blipFill rotWithShape="1">
          <a:blip r:embed="rId6">
            <a:alphaModFix/>
          </a:blip>
          <a:srcRect b="0" l="0" r="0" t="0"/>
          <a:stretch/>
        </p:blipFill>
        <p:spPr>
          <a:xfrm>
            <a:off x="5687568" y="5358384"/>
            <a:ext cx="310896" cy="310896"/>
          </a:xfrm>
          <a:prstGeom prst="rect">
            <a:avLst/>
          </a:prstGeom>
          <a:noFill/>
          <a:ln>
            <a:noFill/>
          </a:ln>
        </p:spPr>
      </p:pic>
      <p:sp>
        <p:nvSpPr>
          <p:cNvPr id="173" name="Google Shape;173;p9"/>
          <p:cNvSpPr/>
          <p:nvPr/>
        </p:nvSpPr>
        <p:spPr>
          <a:xfrm>
            <a:off x="6400800" y="5129784"/>
            <a:ext cx="50748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300"/>
              <a:buFont typeface="Arial"/>
              <a:buNone/>
            </a:pPr>
            <a:r>
              <a:rPr b="1" i="0" lang="en-US" sz="1300" u="none" cap="none" strike="noStrike">
                <a:solidFill>
                  <a:srgbClr val="15803D"/>
                </a:solidFill>
                <a:latin typeface="Arial"/>
                <a:ea typeface="Arial"/>
                <a:cs typeface="Arial"/>
                <a:sym typeface="Arial"/>
              </a:rPr>
              <a:t>SHARE</a:t>
            </a:r>
            <a:endParaRPr b="0" i="0" sz="1300" u="none" cap="none" strike="noStrike">
              <a:solidFill>
                <a:schemeClr val="dk1"/>
              </a:solidFill>
              <a:latin typeface="Calibri"/>
              <a:ea typeface="Calibri"/>
              <a:cs typeface="Calibri"/>
              <a:sym typeface="Calibri"/>
            </a:endParaRPr>
          </a:p>
        </p:txBody>
      </p:sp>
      <p:sp>
        <p:nvSpPr>
          <p:cNvPr id="174" name="Google Shape;174;p9"/>
          <p:cNvSpPr/>
          <p:nvPr/>
        </p:nvSpPr>
        <p:spPr>
          <a:xfrm>
            <a:off x="6400800" y="5449824"/>
            <a:ext cx="5074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1212F"/>
              </a:buClr>
              <a:buSzPts val="1700"/>
              <a:buFont typeface="Calibri"/>
              <a:buNone/>
            </a:pPr>
            <a:r>
              <a:rPr b="1" i="0" lang="en-US" sz="1700" u="none" cap="none" strike="noStrike">
                <a:solidFill>
                  <a:srgbClr val="11212F"/>
                </a:solidFill>
                <a:latin typeface="Calibri"/>
                <a:ea typeface="Calibri"/>
                <a:cs typeface="Calibri"/>
                <a:sym typeface="Calibri"/>
              </a:rPr>
              <a:t>Share the current location with one tap</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79" name="Shape 179"/>
        <p:cNvGrpSpPr/>
        <p:nvPr/>
      </p:nvGrpSpPr>
      <p:grpSpPr>
        <a:xfrm>
          <a:off x="0" y="0"/>
          <a:ext cx="0" cy="0"/>
          <a:chOff x="0" y="0"/>
          <a:chExt cx="0" cy="0"/>
        </a:xfrm>
      </p:grpSpPr>
      <p:sp>
        <p:nvSpPr>
          <p:cNvPr id="180" name="Google Shape;180;p10"/>
          <p:cNvSpPr/>
          <p:nvPr/>
        </p:nvSpPr>
        <p:spPr>
          <a:xfrm>
            <a:off x="640080" y="438912"/>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22C55E"/>
                </a:solidFill>
                <a:latin typeface="Arial"/>
                <a:ea typeface="Arial"/>
                <a:cs typeface="Arial"/>
                <a:sym typeface="Arial"/>
              </a:rPr>
              <a:t>TOOLS + PROGRAMMING</a:t>
            </a:r>
            <a:endParaRPr b="0" i="0" sz="1200" u="none" cap="none" strike="noStrike">
              <a:solidFill>
                <a:srgbClr val="22C55E"/>
              </a:solidFill>
              <a:latin typeface="Calibri"/>
              <a:ea typeface="Calibri"/>
              <a:cs typeface="Calibri"/>
              <a:sym typeface="Calibri"/>
            </a:endParaRPr>
          </a:p>
        </p:txBody>
      </p:sp>
      <p:sp>
        <p:nvSpPr>
          <p:cNvPr id="181" name="Google Shape;181;p10"/>
          <p:cNvSpPr/>
          <p:nvPr/>
        </p:nvSpPr>
        <p:spPr>
          <a:xfrm>
            <a:off x="10515600" y="402336"/>
            <a:ext cx="1033272" cy="32004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B7A"/>
              </a:buClr>
              <a:buSzPts val="1300"/>
              <a:buFont typeface="Arial"/>
              <a:buNone/>
            </a:pPr>
            <a:r>
              <a:rPr b="1" i="0" lang="en-US" sz="1300" u="none" cap="none" strike="noStrike">
                <a:solidFill>
                  <a:srgbClr val="5C6B7A"/>
                </a:solidFill>
                <a:latin typeface="Arial"/>
                <a:ea typeface="Arial"/>
                <a:cs typeface="Arial"/>
                <a:sym typeface="Arial"/>
              </a:rPr>
              <a:t>07</a:t>
            </a:r>
            <a:endParaRPr b="0" i="0" sz="1300" u="none" cap="none" strike="noStrike">
              <a:solidFill>
                <a:schemeClr val="dk1"/>
              </a:solidFill>
              <a:latin typeface="Calibri"/>
              <a:ea typeface="Calibri"/>
              <a:cs typeface="Calibri"/>
              <a:sym typeface="Calibri"/>
            </a:endParaRPr>
          </a:p>
        </p:txBody>
      </p:sp>
      <p:sp>
        <p:nvSpPr>
          <p:cNvPr id="182" name="Google Shape;182;p10"/>
          <p:cNvSpPr/>
          <p:nvPr/>
        </p:nvSpPr>
        <p:spPr>
          <a:xfrm>
            <a:off x="621792" y="786384"/>
            <a:ext cx="109270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3400"/>
              <a:buFont typeface="Arial"/>
              <a:buNone/>
            </a:pPr>
            <a:r>
              <a:rPr b="1" lang="en-US" sz="3400">
                <a:solidFill>
                  <a:srgbClr val="11212F"/>
                </a:solidFill>
              </a:rPr>
              <a:t>Built using</a:t>
            </a:r>
            <a:r>
              <a:rPr b="1" i="0" lang="en-US" sz="3400" u="none" cap="none" strike="noStrike">
                <a:solidFill>
                  <a:srgbClr val="11212F"/>
                </a:solidFill>
                <a:latin typeface="Arial"/>
                <a:ea typeface="Arial"/>
                <a:cs typeface="Arial"/>
                <a:sym typeface="Arial"/>
              </a:rPr>
              <a:t> Swift and Firebase</a:t>
            </a:r>
            <a:endParaRPr b="0" i="0" sz="3400" u="none" cap="none" strike="noStrike">
              <a:solidFill>
                <a:schemeClr val="dk1"/>
              </a:solidFill>
              <a:latin typeface="Calibri"/>
              <a:ea typeface="Calibri"/>
              <a:cs typeface="Calibri"/>
              <a:sym typeface="Calibri"/>
            </a:endParaRPr>
          </a:p>
        </p:txBody>
      </p:sp>
      <p:sp>
        <p:nvSpPr>
          <p:cNvPr id="183" name="Google Shape;183;p10"/>
          <p:cNvSpPr/>
          <p:nvPr/>
        </p:nvSpPr>
        <p:spPr>
          <a:xfrm>
            <a:off x="640080" y="1874520"/>
            <a:ext cx="6720840" cy="896112"/>
          </a:xfrm>
          <a:prstGeom prst="roundRect">
            <a:avLst>
              <a:gd fmla="val 10204"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868680" y="2057400"/>
            <a:ext cx="548640" cy="5486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 name="Google Shape;185;p10"/>
          <p:cNvPicPr preferRelativeResize="0"/>
          <p:nvPr/>
        </p:nvPicPr>
        <p:blipFill rotWithShape="1">
          <a:blip r:embed="rId3">
            <a:alphaModFix/>
          </a:blip>
          <a:srcRect b="0" l="0" r="0" t="0"/>
          <a:stretch/>
        </p:blipFill>
        <p:spPr>
          <a:xfrm>
            <a:off x="1005840" y="2194560"/>
            <a:ext cx="274320" cy="274320"/>
          </a:xfrm>
          <a:prstGeom prst="rect">
            <a:avLst/>
          </a:prstGeom>
          <a:noFill/>
          <a:ln>
            <a:noFill/>
          </a:ln>
        </p:spPr>
      </p:pic>
      <p:sp>
        <p:nvSpPr>
          <p:cNvPr id="186" name="Google Shape;186;p10"/>
          <p:cNvSpPr/>
          <p:nvPr/>
        </p:nvSpPr>
        <p:spPr>
          <a:xfrm>
            <a:off x="1572768" y="2002536"/>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15803D"/>
                </a:solidFill>
                <a:latin typeface="Arial"/>
                <a:ea typeface="Arial"/>
                <a:cs typeface="Arial"/>
                <a:sym typeface="Arial"/>
              </a:rPr>
              <a:t>APP</a:t>
            </a:r>
            <a:endParaRPr b="0" i="0" sz="1200" u="none" cap="none" strike="noStrike">
              <a:solidFill>
                <a:schemeClr val="dk1"/>
              </a:solidFill>
              <a:latin typeface="Calibri"/>
              <a:ea typeface="Calibri"/>
              <a:cs typeface="Calibri"/>
              <a:sym typeface="Calibri"/>
            </a:endParaRPr>
          </a:p>
        </p:txBody>
      </p:sp>
      <p:sp>
        <p:nvSpPr>
          <p:cNvPr id="187" name="Google Shape;187;p10"/>
          <p:cNvSpPr/>
          <p:nvPr/>
        </p:nvSpPr>
        <p:spPr>
          <a:xfrm>
            <a:off x="1572768" y="2240280"/>
            <a:ext cx="5669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SwiftUI + iOS</a:t>
            </a:r>
            <a:endParaRPr b="0" i="0" sz="1600" u="none" cap="none" strike="noStrike">
              <a:solidFill>
                <a:schemeClr val="dk1"/>
              </a:solidFill>
              <a:latin typeface="Calibri"/>
              <a:ea typeface="Calibri"/>
              <a:cs typeface="Calibri"/>
              <a:sym typeface="Calibri"/>
            </a:endParaRPr>
          </a:p>
        </p:txBody>
      </p:sp>
      <p:sp>
        <p:nvSpPr>
          <p:cNvPr id="188" name="Google Shape;188;p10"/>
          <p:cNvSpPr/>
          <p:nvPr/>
        </p:nvSpPr>
        <p:spPr>
          <a:xfrm>
            <a:off x="1572768" y="2496312"/>
            <a:ext cx="5669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Screens, navigation, and saved progress</a:t>
            </a:r>
            <a:endParaRPr b="0" i="0" sz="1300" u="none" cap="none" strike="noStrike">
              <a:solidFill>
                <a:schemeClr val="dk1"/>
              </a:solidFill>
              <a:latin typeface="Calibri"/>
              <a:ea typeface="Calibri"/>
              <a:cs typeface="Calibri"/>
              <a:sym typeface="Calibri"/>
            </a:endParaRPr>
          </a:p>
        </p:txBody>
      </p:sp>
      <p:sp>
        <p:nvSpPr>
          <p:cNvPr id="189" name="Google Shape;189;p10"/>
          <p:cNvSpPr/>
          <p:nvPr/>
        </p:nvSpPr>
        <p:spPr>
          <a:xfrm>
            <a:off x="640080" y="2898648"/>
            <a:ext cx="6720840" cy="896112"/>
          </a:xfrm>
          <a:prstGeom prst="roundRect">
            <a:avLst>
              <a:gd fmla="val 10204"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868680" y="3081528"/>
            <a:ext cx="548640" cy="5486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10"/>
          <p:cNvPicPr preferRelativeResize="0"/>
          <p:nvPr/>
        </p:nvPicPr>
        <p:blipFill rotWithShape="1">
          <a:blip r:embed="rId4">
            <a:alphaModFix/>
          </a:blip>
          <a:srcRect b="0" l="0" r="0" t="0"/>
          <a:stretch/>
        </p:blipFill>
        <p:spPr>
          <a:xfrm>
            <a:off x="1005840" y="3218688"/>
            <a:ext cx="274320" cy="274320"/>
          </a:xfrm>
          <a:prstGeom prst="rect">
            <a:avLst/>
          </a:prstGeom>
          <a:noFill/>
          <a:ln>
            <a:noFill/>
          </a:ln>
        </p:spPr>
      </p:pic>
      <p:sp>
        <p:nvSpPr>
          <p:cNvPr id="192" name="Google Shape;192;p10"/>
          <p:cNvSpPr/>
          <p:nvPr/>
        </p:nvSpPr>
        <p:spPr>
          <a:xfrm>
            <a:off x="1572768" y="3026664"/>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15803D"/>
                </a:solidFill>
                <a:latin typeface="Arial"/>
                <a:ea typeface="Arial"/>
                <a:cs typeface="Arial"/>
                <a:sym typeface="Arial"/>
              </a:rPr>
              <a:t>SENSORS + MAPS</a:t>
            </a:r>
            <a:endParaRPr b="0" i="0" sz="1200" u="none" cap="none" strike="noStrike">
              <a:solidFill>
                <a:schemeClr val="dk1"/>
              </a:solidFill>
              <a:latin typeface="Calibri"/>
              <a:ea typeface="Calibri"/>
              <a:cs typeface="Calibri"/>
              <a:sym typeface="Calibri"/>
            </a:endParaRPr>
          </a:p>
        </p:txBody>
      </p:sp>
      <p:sp>
        <p:nvSpPr>
          <p:cNvPr id="193" name="Google Shape;193;p10"/>
          <p:cNvSpPr/>
          <p:nvPr/>
        </p:nvSpPr>
        <p:spPr>
          <a:xfrm>
            <a:off x="1572768" y="3264408"/>
            <a:ext cx="5669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MapKit • CoreLocation • CoreMotion • AVFoundation</a:t>
            </a:r>
            <a:endParaRPr b="0" i="0" sz="1600" u="none" cap="none" strike="noStrike">
              <a:solidFill>
                <a:schemeClr val="dk1"/>
              </a:solidFill>
              <a:latin typeface="Calibri"/>
              <a:ea typeface="Calibri"/>
              <a:cs typeface="Calibri"/>
              <a:sym typeface="Calibri"/>
            </a:endParaRPr>
          </a:p>
        </p:txBody>
      </p:sp>
      <p:sp>
        <p:nvSpPr>
          <p:cNvPr id="194" name="Google Shape;194;p10"/>
          <p:cNvSpPr/>
          <p:nvPr/>
        </p:nvSpPr>
        <p:spPr>
          <a:xfrm>
            <a:off x="1572768" y="3520440"/>
            <a:ext cx="5669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Routes, GPS speed, motion, and spoken alerts</a:t>
            </a:r>
            <a:endParaRPr b="0" i="0" sz="1300" u="none" cap="none" strike="noStrike">
              <a:solidFill>
                <a:schemeClr val="dk1"/>
              </a:solidFill>
              <a:latin typeface="Calibri"/>
              <a:ea typeface="Calibri"/>
              <a:cs typeface="Calibri"/>
              <a:sym typeface="Calibri"/>
            </a:endParaRPr>
          </a:p>
        </p:txBody>
      </p:sp>
      <p:sp>
        <p:nvSpPr>
          <p:cNvPr id="195" name="Google Shape;195;p10"/>
          <p:cNvSpPr/>
          <p:nvPr/>
        </p:nvSpPr>
        <p:spPr>
          <a:xfrm>
            <a:off x="640080" y="3922776"/>
            <a:ext cx="6720840" cy="896112"/>
          </a:xfrm>
          <a:prstGeom prst="roundRect">
            <a:avLst>
              <a:gd fmla="val 10204" name="adj"/>
            </a:avLst>
          </a:prstGeom>
          <a:solidFill>
            <a:srgbClr val="FFFFFF"/>
          </a:solidFill>
          <a:ln cap="flat" cmpd="sng" w="12700">
            <a:solidFill>
              <a:srgbClr val="EAF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868680" y="4105656"/>
            <a:ext cx="548640" cy="54864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10"/>
          <p:cNvPicPr preferRelativeResize="0"/>
          <p:nvPr/>
        </p:nvPicPr>
        <p:blipFill rotWithShape="1">
          <a:blip r:embed="rId5">
            <a:alphaModFix/>
          </a:blip>
          <a:srcRect b="0" l="0" r="0" t="0"/>
          <a:stretch/>
        </p:blipFill>
        <p:spPr>
          <a:xfrm>
            <a:off x="1005840" y="4242816"/>
            <a:ext cx="274320" cy="274320"/>
          </a:xfrm>
          <a:prstGeom prst="rect">
            <a:avLst/>
          </a:prstGeom>
          <a:noFill/>
          <a:ln>
            <a:noFill/>
          </a:ln>
        </p:spPr>
      </p:pic>
      <p:sp>
        <p:nvSpPr>
          <p:cNvPr id="198" name="Google Shape;198;p10"/>
          <p:cNvSpPr/>
          <p:nvPr/>
        </p:nvSpPr>
        <p:spPr>
          <a:xfrm>
            <a:off x="1572768" y="4050792"/>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803D"/>
              </a:buClr>
              <a:buSzPts val="1200"/>
              <a:buFont typeface="Arial"/>
              <a:buNone/>
            </a:pPr>
            <a:r>
              <a:rPr b="1" i="0" lang="en-US" sz="1200" u="none" cap="none" strike="noStrike">
                <a:solidFill>
                  <a:srgbClr val="15803D"/>
                </a:solidFill>
                <a:latin typeface="Arial"/>
                <a:ea typeface="Arial"/>
                <a:cs typeface="Arial"/>
                <a:sym typeface="Arial"/>
              </a:rPr>
              <a:t>CLOUD</a:t>
            </a:r>
            <a:endParaRPr b="0" i="0" sz="1200" u="none" cap="none" strike="noStrike">
              <a:solidFill>
                <a:schemeClr val="dk1"/>
              </a:solidFill>
              <a:latin typeface="Calibri"/>
              <a:ea typeface="Calibri"/>
              <a:cs typeface="Calibri"/>
              <a:sym typeface="Calibri"/>
            </a:endParaRPr>
          </a:p>
        </p:txBody>
      </p:sp>
      <p:sp>
        <p:nvSpPr>
          <p:cNvPr id="199" name="Google Shape;199;p10"/>
          <p:cNvSpPr/>
          <p:nvPr/>
        </p:nvSpPr>
        <p:spPr>
          <a:xfrm>
            <a:off x="1572768" y="4288536"/>
            <a:ext cx="56692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1600"/>
              <a:buFont typeface="Arial"/>
              <a:buNone/>
            </a:pPr>
            <a:r>
              <a:rPr b="1" i="0" lang="en-US" sz="1600" u="none" cap="none" strike="noStrike">
                <a:solidFill>
                  <a:srgbClr val="11212F"/>
                </a:solidFill>
                <a:latin typeface="Arial"/>
                <a:ea typeface="Arial"/>
                <a:cs typeface="Arial"/>
                <a:sym typeface="Arial"/>
              </a:rPr>
              <a:t>Firebase Authentication + Firestore</a:t>
            </a:r>
            <a:endParaRPr b="0" i="0" sz="1600" u="none" cap="none" strike="noStrike">
              <a:solidFill>
                <a:schemeClr val="dk1"/>
              </a:solidFill>
              <a:latin typeface="Calibri"/>
              <a:ea typeface="Calibri"/>
              <a:cs typeface="Calibri"/>
              <a:sym typeface="Calibri"/>
            </a:endParaRPr>
          </a:p>
        </p:txBody>
      </p:sp>
      <p:sp>
        <p:nvSpPr>
          <p:cNvPr id="200" name="Google Shape;200;p10"/>
          <p:cNvSpPr/>
          <p:nvPr/>
        </p:nvSpPr>
        <p:spPr>
          <a:xfrm>
            <a:off x="1572768" y="4544568"/>
            <a:ext cx="5669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B7A"/>
              </a:buClr>
              <a:buSzPts val="1300"/>
              <a:buFont typeface="Calibri"/>
              <a:buNone/>
            </a:pPr>
            <a:r>
              <a:rPr b="0" i="0" lang="en-US" sz="1300" u="none" cap="none" strike="noStrike">
                <a:solidFill>
                  <a:srgbClr val="5C6B7A"/>
                </a:solidFill>
                <a:latin typeface="Calibri"/>
                <a:ea typeface="Calibri"/>
                <a:cs typeface="Calibri"/>
                <a:sym typeface="Calibri"/>
              </a:rPr>
              <a:t>User profiles and shared hazard reports</a:t>
            </a:r>
            <a:endParaRPr b="0" i="0" sz="1300" u="none" cap="none" strike="noStrike">
              <a:solidFill>
                <a:schemeClr val="dk1"/>
              </a:solidFill>
              <a:latin typeface="Calibri"/>
              <a:ea typeface="Calibri"/>
              <a:cs typeface="Calibri"/>
              <a:sym typeface="Calibri"/>
            </a:endParaRPr>
          </a:p>
        </p:txBody>
      </p:sp>
      <p:sp>
        <p:nvSpPr>
          <p:cNvPr id="201" name="Google Shape;201;p10"/>
          <p:cNvSpPr/>
          <p:nvPr/>
        </p:nvSpPr>
        <p:spPr>
          <a:xfrm>
            <a:off x="7635240" y="1874520"/>
            <a:ext cx="3913632" cy="2944368"/>
          </a:xfrm>
          <a:prstGeom prst="roundRect">
            <a:avLst>
              <a:gd fmla="val 4348" name="adj"/>
            </a:avLst>
          </a:prstGeom>
          <a:solidFill>
            <a:srgbClr val="0F1E2E"/>
          </a:solidFill>
          <a:ln>
            <a:noFill/>
          </a:ln>
          <a:effectLst>
            <a:outerShdw blurRad="177800" rotWithShape="0" algn="bl" dir="5400000" dist="63500">
              <a:srgbClr val="1E3346">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8019288" y="2286000"/>
            <a:ext cx="658368" cy="658368"/>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10"/>
          <p:cNvPicPr preferRelativeResize="0"/>
          <p:nvPr/>
        </p:nvPicPr>
        <p:blipFill rotWithShape="1">
          <a:blip r:embed="rId6">
            <a:alphaModFix/>
          </a:blip>
          <a:srcRect b="0" l="0" r="0" t="0"/>
          <a:stretch/>
        </p:blipFill>
        <p:spPr>
          <a:xfrm>
            <a:off x="8183880" y="2450592"/>
            <a:ext cx="329184" cy="329184"/>
          </a:xfrm>
          <a:prstGeom prst="rect">
            <a:avLst/>
          </a:prstGeom>
          <a:noFill/>
          <a:ln>
            <a:noFill/>
          </a:ln>
        </p:spPr>
      </p:pic>
      <p:sp>
        <p:nvSpPr>
          <p:cNvPr id="204" name="Google Shape;204;p10"/>
          <p:cNvSpPr/>
          <p:nvPr/>
        </p:nvSpPr>
        <p:spPr>
          <a:xfrm>
            <a:off x="8019288" y="3127248"/>
            <a:ext cx="318211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2C55E"/>
              </a:buClr>
              <a:buSzPts val="1200"/>
              <a:buFont typeface="Arial"/>
              <a:buNone/>
            </a:pPr>
            <a:r>
              <a:rPr b="1" i="0" lang="en-US" sz="1200" u="none" cap="none" strike="noStrike">
                <a:solidFill>
                  <a:srgbClr val="22C55E"/>
                </a:solidFill>
                <a:latin typeface="Arial"/>
                <a:ea typeface="Arial"/>
                <a:cs typeface="Arial"/>
                <a:sym typeface="Arial"/>
              </a:rPr>
              <a:t>CHALLENGE + LESSON</a:t>
            </a:r>
            <a:endParaRPr b="0" i="0" sz="1200" u="none" cap="none" strike="noStrike">
              <a:solidFill>
                <a:schemeClr val="dk1"/>
              </a:solidFill>
              <a:latin typeface="Calibri"/>
              <a:ea typeface="Calibri"/>
              <a:cs typeface="Calibri"/>
              <a:sym typeface="Calibri"/>
            </a:endParaRPr>
          </a:p>
        </p:txBody>
      </p:sp>
      <p:sp>
        <p:nvSpPr>
          <p:cNvPr id="205" name="Google Shape;205;p10"/>
          <p:cNvSpPr/>
          <p:nvPr/>
        </p:nvSpPr>
        <p:spPr>
          <a:xfrm>
            <a:off x="8019288" y="3456432"/>
            <a:ext cx="3163824" cy="1828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DCE6EE"/>
              </a:buClr>
              <a:buSzPts val="1600"/>
              <a:buFont typeface="Calibri"/>
              <a:buNone/>
            </a:pPr>
            <a:r>
              <a:rPr b="0" i="0" lang="en-US" sz="1600" u="none" cap="none" strike="noStrike">
                <a:solidFill>
                  <a:srgbClr val="DCE6EE"/>
                </a:solidFill>
                <a:latin typeface="Calibri"/>
                <a:ea typeface="Calibri"/>
                <a:cs typeface="Calibri"/>
                <a:sym typeface="Calibri"/>
              </a:rPr>
              <a:t>Live sensor data changes fast. I learned to turn it into short, clear alerts that do not distract the rider.</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p:nvPr/>
        </p:nvSpPr>
        <p:spPr>
          <a:xfrm>
            <a:off x="2162675" y="2014350"/>
            <a:ext cx="7866300" cy="282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3400"/>
              <a:buFont typeface="Arial"/>
              <a:buNone/>
            </a:pPr>
            <a:r>
              <a:rPr b="1" lang="en-US" sz="8000">
                <a:solidFill>
                  <a:schemeClr val="lt1"/>
                </a:solidFill>
              </a:rPr>
              <a:t>App Demonstration</a:t>
            </a:r>
            <a:endParaRPr b="0" i="0" sz="80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12"/>
          <p:cNvPicPr preferRelativeResize="0"/>
          <p:nvPr/>
        </p:nvPicPr>
        <p:blipFill>
          <a:blip r:embed="rId3">
            <a:alphaModFix/>
          </a:blip>
          <a:stretch>
            <a:fillRect/>
          </a:stretch>
        </p:blipFill>
        <p:spPr>
          <a:xfrm>
            <a:off x="0" y="0"/>
            <a:ext cx="3325774" cy="6857999"/>
          </a:xfrm>
          <a:prstGeom prst="rect">
            <a:avLst/>
          </a:prstGeom>
          <a:noFill/>
          <a:ln>
            <a:noFill/>
          </a:ln>
        </p:spPr>
      </p:pic>
      <p:pic>
        <p:nvPicPr>
          <p:cNvPr id="218" name="Google Shape;218;p12"/>
          <p:cNvPicPr preferRelativeResize="0"/>
          <p:nvPr/>
        </p:nvPicPr>
        <p:blipFill>
          <a:blip r:embed="rId4">
            <a:alphaModFix/>
          </a:blip>
          <a:stretch>
            <a:fillRect/>
          </a:stretch>
        </p:blipFill>
        <p:spPr>
          <a:xfrm>
            <a:off x="5859050" y="25"/>
            <a:ext cx="3380699" cy="6857948"/>
          </a:xfrm>
          <a:prstGeom prst="rect">
            <a:avLst/>
          </a:prstGeom>
          <a:noFill/>
          <a:ln>
            <a:noFill/>
          </a:ln>
        </p:spPr>
      </p:pic>
      <p:sp>
        <p:nvSpPr>
          <p:cNvPr id="219" name="Google Shape;219;p12"/>
          <p:cNvSpPr/>
          <p:nvPr/>
        </p:nvSpPr>
        <p:spPr>
          <a:xfrm>
            <a:off x="3513735" y="3200410"/>
            <a:ext cx="269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Starting screen</a:t>
            </a:r>
            <a:endParaRPr b="1" sz="4000">
              <a:solidFill>
                <a:schemeClr val="lt1"/>
              </a:solidFill>
            </a:endParaRPr>
          </a:p>
        </p:txBody>
      </p:sp>
      <p:sp>
        <p:nvSpPr>
          <p:cNvPr id="220" name="Google Shape;220;p12"/>
          <p:cNvSpPr/>
          <p:nvPr/>
        </p:nvSpPr>
        <p:spPr>
          <a:xfrm>
            <a:off x="9740535" y="3200410"/>
            <a:ext cx="269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Home Page</a:t>
            </a:r>
            <a:endParaRPr b="0" i="0" sz="40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p:nvPr/>
        </p:nvSpPr>
        <p:spPr>
          <a:xfrm>
            <a:off x="3565160" y="2743223"/>
            <a:ext cx="269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Safety Map</a:t>
            </a:r>
            <a:endParaRPr b="1" sz="4000">
              <a:solidFill>
                <a:schemeClr val="lt1"/>
              </a:solidFill>
            </a:endParaRPr>
          </a:p>
        </p:txBody>
      </p:sp>
      <p:sp>
        <p:nvSpPr>
          <p:cNvPr id="227" name="Google Shape;227;p13"/>
          <p:cNvSpPr/>
          <p:nvPr/>
        </p:nvSpPr>
        <p:spPr>
          <a:xfrm>
            <a:off x="9338785" y="2743235"/>
            <a:ext cx="269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eRide School</a:t>
            </a:r>
            <a:endParaRPr b="0" i="0" sz="4000" u="none" cap="none" strike="noStrike">
              <a:solidFill>
                <a:schemeClr val="lt1"/>
              </a:solidFill>
              <a:latin typeface="Calibri"/>
              <a:ea typeface="Calibri"/>
              <a:cs typeface="Calibri"/>
              <a:sym typeface="Calibri"/>
            </a:endParaRPr>
          </a:p>
        </p:txBody>
      </p:sp>
      <p:pic>
        <p:nvPicPr>
          <p:cNvPr id="228" name="Google Shape;228;p13"/>
          <p:cNvPicPr preferRelativeResize="0"/>
          <p:nvPr/>
        </p:nvPicPr>
        <p:blipFill>
          <a:blip r:embed="rId3">
            <a:alphaModFix/>
          </a:blip>
          <a:stretch>
            <a:fillRect/>
          </a:stretch>
        </p:blipFill>
        <p:spPr>
          <a:xfrm>
            <a:off x="0" y="0"/>
            <a:ext cx="3325774" cy="6858025"/>
          </a:xfrm>
          <a:prstGeom prst="rect">
            <a:avLst/>
          </a:prstGeom>
          <a:noFill/>
          <a:ln>
            <a:noFill/>
          </a:ln>
        </p:spPr>
      </p:pic>
      <p:pic>
        <p:nvPicPr>
          <p:cNvPr id="229" name="Google Shape;229;p13"/>
          <p:cNvPicPr preferRelativeResize="0"/>
          <p:nvPr/>
        </p:nvPicPr>
        <p:blipFill>
          <a:blip r:embed="rId4">
            <a:alphaModFix/>
          </a:blip>
          <a:stretch>
            <a:fillRect/>
          </a:stretch>
        </p:blipFill>
        <p:spPr>
          <a:xfrm>
            <a:off x="5824725" y="50"/>
            <a:ext cx="3210024" cy="68579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p:nvPr/>
        </p:nvSpPr>
        <p:spPr>
          <a:xfrm>
            <a:off x="3502438" y="1792475"/>
            <a:ext cx="2233800" cy="2516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Safety Reports</a:t>
            </a:r>
            <a:endParaRPr b="1" sz="4000">
              <a:solidFill>
                <a:schemeClr val="lt1"/>
              </a:solidFill>
            </a:endParaRPr>
          </a:p>
        </p:txBody>
      </p:sp>
      <p:sp>
        <p:nvSpPr>
          <p:cNvPr id="236" name="Google Shape;236;p14"/>
          <p:cNvSpPr/>
          <p:nvPr/>
        </p:nvSpPr>
        <p:spPr>
          <a:xfrm>
            <a:off x="9602060" y="2821935"/>
            <a:ext cx="269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1212F"/>
              </a:buClr>
              <a:buSzPts val="2100"/>
              <a:buFont typeface="Arial"/>
              <a:buNone/>
            </a:pPr>
            <a:r>
              <a:rPr b="1" lang="en-US" sz="4000">
                <a:solidFill>
                  <a:schemeClr val="lt1"/>
                </a:solidFill>
              </a:rPr>
              <a:t>Ride Mode</a:t>
            </a:r>
            <a:endParaRPr b="0" i="0" sz="4000" u="none" cap="none" strike="noStrike">
              <a:solidFill>
                <a:schemeClr val="lt1"/>
              </a:solidFill>
              <a:latin typeface="Calibri"/>
              <a:ea typeface="Calibri"/>
              <a:cs typeface="Calibri"/>
              <a:sym typeface="Calibri"/>
            </a:endParaRPr>
          </a:p>
        </p:txBody>
      </p:sp>
      <p:pic>
        <p:nvPicPr>
          <p:cNvPr id="237" name="Google Shape;237;p14"/>
          <p:cNvPicPr preferRelativeResize="0"/>
          <p:nvPr/>
        </p:nvPicPr>
        <p:blipFill>
          <a:blip r:embed="rId3">
            <a:alphaModFix/>
          </a:blip>
          <a:stretch>
            <a:fillRect/>
          </a:stretch>
        </p:blipFill>
        <p:spPr>
          <a:xfrm>
            <a:off x="0" y="0"/>
            <a:ext cx="3293201" cy="6857999"/>
          </a:xfrm>
          <a:prstGeom prst="rect">
            <a:avLst/>
          </a:prstGeom>
          <a:noFill/>
          <a:ln>
            <a:noFill/>
          </a:ln>
        </p:spPr>
      </p:pic>
      <p:pic>
        <p:nvPicPr>
          <p:cNvPr id="238" name="Google Shape;238;p14"/>
          <p:cNvPicPr preferRelativeResize="0"/>
          <p:nvPr/>
        </p:nvPicPr>
        <p:blipFill>
          <a:blip r:embed="rId4">
            <a:alphaModFix/>
          </a:blip>
          <a:stretch>
            <a:fillRect/>
          </a:stretch>
        </p:blipFill>
        <p:spPr>
          <a:xfrm>
            <a:off x="5945474" y="25"/>
            <a:ext cx="3293201" cy="68579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p:nvPr/>
        </p:nvSpPr>
        <p:spPr>
          <a:xfrm>
            <a:off x="3503325" y="1326225"/>
            <a:ext cx="4972500" cy="2802900"/>
          </a:xfrm>
          <a:prstGeom prst="rect">
            <a:avLst/>
          </a:prstGeom>
          <a:noFill/>
          <a:ln>
            <a:noFill/>
          </a:ln>
        </p:spPr>
        <p:txBody>
          <a:bodyPr anchorCtr="0" anchor="ctr" bIns="77850" lIns="155725" spcFirstLastPara="1" rIns="155725" wrap="square" tIns="77850">
            <a:noAutofit/>
          </a:bodyPr>
          <a:lstStyle/>
          <a:p>
            <a:pPr indent="0" lvl="0" marL="0" marR="0" rtl="0" algn="l">
              <a:spcBef>
                <a:spcPts val="0"/>
              </a:spcBef>
              <a:spcAft>
                <a:spcPts val="0"/>
              </a:spcAft>
              <a:buClr>
                <a:srgbClr val="11212F"/>
              </a:buClr>
              <a:buSzPts val="3577"/>
              <a:buFont typeface="Arial"/>
              <a:buNone/>
            </a:pPr>
            <a:r>
              <a:rPr b="1" lang="en-US" sz="8000">
                <a:solidFill>
                  <a:schemeClr val="lt1"/>
                </a:solidFill>
              </a:rPr>
              <a:t>Settings</a:t>
            </a:r>
            <a:endParaRPr b="0" i="0" sz="8000" u="none" cap="none" strike="noStrike">
              <a:solidFill>
                <a:schemeClr val="lt1"/>
              </a:solidFill>
              <a:latin typeface="Calibri"/>
              <a:ea typeface="Calibri"/>
              <a:cs typeface="Calibri"/>
              <a:sym typeface="Calibri"/>
            </a:endParaRPr>
          </a:p>
        </p:txBody>
      </p:sp>
      <p:pic>
        <p:nvPicPr>
          <p:cNvPr id="245" name="Google Shape;245;p15"/>
          <p:cNvPicPr preferRelativeResize="0"/>
          <p:nvPr/>
        </p:nvPicPr>
        <p:blipFill>
          <a:blip r:embed="rId3">
            <a:alphaModFix/>
          </a:blip>
          <a:stretch>
            <a:fillRect/>
          </a:stretch>
        </p:blipFill>
        <p:spPr>
          <a:xfrm>
            <a:off x="0" y="0"/>
            <a:ext cx="3279650" cy="6857999"/>
          </a:xfrm>
          <a:prstGeom prst="rect">
            <a:avLst/>
          </a:prstGeom>
          <a:noFill/>
          <a:ln>
            <a:noFill/>
          </a:ln>
        </p:spPr>
      </p:pic>
      <p:sp>
        <p:nvSpPr>
          <p:cNvPr id="246" name="Google Shape;246;p15"/>
          <p:cNvSpPr/>
          <p:nvPr/>
        </p:nvSpPr>
        <p:spPr>
          <a:xfrm>
            <a:off x="9457225" y="-508100"/>
            <a:ext cx="2921100" cy="2921100"/>
          </a:xfrm>
          <a:prstGeom prst="ellipse">
            <a:avLst/>
          </a:prstGeom>
          <a:solidFill>
            <a:srgbClr val="14A3A8">
              <a:alpha val="2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5"/>
          <p:cNvSpPr/>
          <p:nvPr/>
        </p:nvSpPr>
        <p:spPr>
          <a:xfrm>
            <a:off x="8699500" y="-1397000"/>
            <a:ext cx="4698900" cy="4698900"/>
          </a:xfrm>
          <a:prstGeom prst="ellipse">
            <a:avLst/>
          </a:prstGeom>
          <a:solidFill>
            <a:srgbClr val="1FB86E">
              <a:alpha val="18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3D52"/>
        </a:solidFill>
      </p:bgPr>
    </p:bg>
    <p:spTree>
      <p:nvGrpSpPr>
        <p:cNvPr id="252" name="Shape 252"/>
        <p:cNvGrpSpPr/>
        <p:nvPr/>
      </p:nvGrpSpPr>
      <p:grpSpPr>
        <a:xfrm>
          <a:off x="0" y="0"/>
          <a:ext cx="0" cy="0"/>
          <a:chOff x="0" y="0"/>
          <a:chExt cx="0" cy="0"/>
        </a:xfrm>
      </p:grpSpPr>
      <p:sp>
        <p:nvSpPr>
          <p:cNvPr id="253" name="Google Shape;253;p16"/>
          <p:cNvSpPr/>
          <p:nvPr/>
        </p:nvSpPr>
        <p:spPr>
          <a:xfrm>
            <a:off x="640080" y="2286000"/>
            <a:ext cx="3520500" cy="2423100"/>
          </a:xfrm>
          <a:prstGeom prst="roundRect">
            <a:avLst>
              <a:gd fmla="val 5283" name="adj"/>
            </a:avLst>
          </a:prstGeom>
          <a:solidFill>
            <a:srgbClr val="17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1024128" y="2670048"/>
            <a:ext cx="658500" cy="6585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6"/>
          <p:cNvPicPr preferRelativeResize="0"/>
          <p:nvPr/>
        </p:nvPicPr>
        <p:blipFill rotWithShape="1">
          <a:blip r:embed="rId3">
            <a:alphaModFix/>
          </a:blip>
          <a:srcRect b="0" l="0" r="0" t="0"/>
          <a:stretch/>
        </p:blipFill>
        <p:spPr>
          <a:xfrm>
            <a:off x="1188720" y="2834640"/>
            <a:ext cx="329184" cy="329184"/>
          </a:xfrm>
          <a:prstGeom prst="rect">
            <a:avLst/>
          </a:prstGeom>
          <a:noFill/>
          <a:ln>
            <a:noFill/>
          </a:ln>
        </p:spPr>
      </p:pic>
      <p:sp>
        <p:nvSpPr>
          <p:cNvPr id="256" name="Google Shape;256;p16"/>
          <p:cNvSpPr/>
          <p:nvPr/>
        </p:nvSpPr>
        <p:spPr>
          <a:xfrm>
            <a:off x="3291840" y="2651760"/>
            <a:ext cx="50280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4506A"/>
              </a:buClr>
              <a:buSzPts val="2200"/>
              <a:buFont typeface="Arial"/>
              <a:buNone/>
            </a:pPr>
            <a:r>
              <a:rPr b="1" i="0" lang="en-US" sz="2200" u="none" cap="none" strike="noStrike">
                <a:solidFill>
                  <a:srgbClr val="34506A"/>
                </a:solidFill>
                <a:latin typeface="Arial"/>
                <a:ea typeface="Arial"/>
                <a:cs typeface="Arial"/>
                <a:sym typeface="Arial"/>
              </a:rPr>
              <a:t>01</a:t>
            </a:r>
            <a:endParaRPr b="0" i="0" sz="2200" u="none" cap="none" strike="noStrike">
              <a:solidFill>
                <a:schemeClr val="dk1"/>
              </a:solidFill>
              <a:latin typeface="Calibri"/>
              <a:ea typeface="Calibri"/>
              <a:cs typeface="Calibri"/>
              <a:sym typeface="Calibri"/>
            </a:endParaRPr>
          </a:p>
        </p:txBody>
      </p:sp>
      <p:sp>
        <p:nvSpPr>
          <p:cNvPr id="257" name="Google Shape;257;p16"/>
          <p:cNvSpPr/>
          <p:nvPr/>
        </p:nvSpPr>
        <p:spPr>
          <a:xfrm>
            <a:off x="1024128" y="3474720"/>
            <a:ext cx="278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More local data</a:t>
            </a:r>
            <a:endParaRPr b="0" i="0" sz="1800" u="none" cap="none" strike="noStrike">
              <a:solidFill>
                <a:schemeClr val="dk1"/>
              </a:solidFill>
              <a:latin typeface="Calibri"/>
              <a:ea typeface="Calibri"/>
              <a:cs typeface="Calibri"/>
              <a:sym typeface="Calibri"/>
            </a:endParaRPr>
          </a:p>
        </p:txBody>
      </p:sp>
      <p:sp>
        <p:nvSpPr>
          <p:cNvPr id="258" name="Google Shape;258;p16"/>
          <p:cNvSpPr/>
          <p:nvPr/>
        </p:nvSpPr>
        <p:spPr>
          <a:xfrm>
            <a:off x="1024128" y="3858768"/>
            <a:ext cx="27705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AEBFCC"/>
              </a:buClr>
              <a:buSzPts val="1400"/>
              <a:buFont typeface="Calibri"/>
              <a:buNone/>
            </a:pPr>
            <a:r>
              <a:rPr b="0" i="0" lang="en-US" sz="1400" u="none" cap="none" strike="noStrike">
                <a:solidFill>
                  <a:srgbClr val="AEBFCC"/>
                </a:solidFill>
                <a:latin typeface="Calibri"/>
                <a:ea typeface="Calibri"/>
                <a:cs typeface="Calibri"/>
                <a:sym typeface="Calibri"/>
              </a:rPr>
              <a:t>Add more routes and verified city guidance.</a:t>
            </a:r>
            <a:endParaRPr b="0" i="0" sz="1400" u="none" cap="none" strike="noStrike">
              <a:solidFill>
                <a:schemeClr val="dk1"/>
              </a:solidFill>
              <a:latin typeface="Calibri"/>
              <a:ea typeface="Calibri"/>
              <a:cs typeface="Calibri"/>
              <a:sym typeface="Calibri"/>
            </a:endParaRPr>
          </a:p>
        </p:txBody>
      </p:sp>
      <p:sp>
        <p:nvSpPr>
          <p:cNvPr id="259" name="Google Shape;259;p16"/>
          <p:cNvSpPr/>
          <p:nvPr/>
        </p:nvSpPr>
        <p:spPr>
          <a:xfrm>
            <a:off x="4503420" y="2286000"/>
            <a:ext cx="3520500" cy="2423100"/>
          </a:xfrm>
          <a:prstGeom prst="roundRect">
            <a:avLst>
              <a:gd fmla="val 5283" name="adj"/>
            </a:avLst>
          </a:prstGeom>
          <a:solidFill>
            <a:srgbClr val="17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4887468" y="2670048"/>
            <a:ext cx="658500" cy="6585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1" name="Google Shape;261;p16"/>
          <p:cNvPicPr preferRelativeResize="0"/>
          <p:nvPr/>
        </p:nvPicPr>
        <p:blipFill rotWithShape="1">
          <a:blip r:embed="rId4">
            <a:alphaModFix/>
          </a:blip>
          <a:srcRect b="0" l="0" r="0" t="0"/>
          <a:stretch/>
        </p:blipFill>
        <p:spPr>
          <a:xfrm>
            <a:off x="5052060" y="2834640"/>
            <a:ext cx="329184" cy="329184"/>
          </a:xfrm>
          <a:prstGeom prst="rect">
            <a:avLst/>
          </a:prstGeom>
          <a:noFill/>
          <a:ln>
            <a:noFill/>
          </a:ln>
        </p:spPr>
      </p:pic>
      <p:sp>
        <p:nvSpPr>
          <p:cNvPr id="262" name="Google Shape;262;p16"/>
          <p:cNvSpPr/>
          <p:nvPr/>
        </p:nvSpPr>
        <p:spPr>
          <a:xfrm>
            <a:off x="7155180" y="2651760"/>
            <a:ext cx="50280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4506A"/>
              </a:buClr>
              <a:buSzPts val="2200"/>
              <a:buFont typeface="Arial"/>
              <a:buNone/>
            </a:pPr>
            <a:r>
              <a:rPr b="1" i="0" lang="en-US" sz="2200" u="none" cap="none" strike="noStrike">
                <a:solidFill>
                  <a:srgbClr val="34506A"/>
                </a:solidFill>
                <a:latin typeface="Arial"/>
                <a:ea typeface="Arial"/>
                <a:cs typeface="Arial"/>
                <a:sym typeface="Arial"/>
              </a:rPr>
              <a:t>02</a:t>
            </a:r>
            <a:endParaRPr b="0" i="0" sz="2200" u="none" cap="none" strike="noStrike">
              <a:solidFill>
                <a:schemeClr val="dk1"/>
              </a:solidFill>
              <a:latin typeface="Calibri"/>
              <a:ea typeface="Calibri"/>
              <a:cs typeface="Calibri"/>
              <a:sym typeface="Calibri"/>
            </a:endParaRPr>
          </a:p>
        </p:txBody>
      </p:sp>
      <p:sp>
        <p:nvSpPr>
          <p:cNvPr id="263" name="Google Shape;263;p16"/>
          <p:cNvSpPr/>
          <p:nvPr/>
        </p:nvSpPr>
        <p:spPr>
          <a:xfrm>
            <a:off x="5052050" y="3436575"/>
            <a:ext cx="1304400" cy="51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Feedback</a:t>
            </a:r>
            <a:endParaRPr b="0" i="0" sz="1800" u="none" cap="none" strike="noStrike">
              <a:solidFill>
                <a:schemeClr val="dk1"/>
              </a:solidFill>
              <a:latin typeface="Calibri"/>
              <a:ea typeface="Calibri"/>
              <a:cs typeface="Calibri"/>
              <a:sym typeface="Calibri"/>
            </a:endParaRPr>
          </a:p>
        </p:txBody>
      </p:sp>
      <p:sp>
        <p:nvSpPr>
          <p:cNvPr id="264" name="Google Shape;264;p16"/>
          <p:cNvSpPr/>
          <p:nvPr/>
        </p:nvSpPr>
        <p:spPr>
          <a:xfrm>
            <a:off x="5052056" y="3845093"/>
            <a:ext cx="27705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AEBFCC"/>
              </a:buClr>
              <a:buSzPts val="1400"/>
              <a:buFont typeface="Calibri"/>
              <a:buNone/>
            </a:pPr>
            <a:r>
              <a:rPr lang="en-US">
                <a:solidFill>
                  <a:srgbClr val="AEBFCC"/>
                </a:solidFill>
                <a:latin typeface="Calibri"/>
                <a:ea typeface="Calibri"/>
                <a:cs typeface="Calibri"/>
                <a:sym typeface="Calibri"/>
              </a:rPr>
              <a:t>Receive feedback from law enforcement and implement accurate information.</a:t>
            </a:r>
            <a:endParaRPr b="0" i="0" sz="1400" u="none" cap="none" strike="noStrike">
              <a:solidFill>
                <a:schemeClr val="dk1"/>
              </a:solidFill>
              <a:latin typeface="Calibri"/>
              <a:ea typeface="Calibri"/>
              <a:cs typeface="Calibri"/>
              <a:sym typeface="Calibri"/>
            </a:endParaRPr>
          </a:p>
        </p:txBody>
      </p:sp>
      <p:sp>
        <p:nvSpPr>
          <p:cNvPr id="265" name="Google Shape;265;p16"/>
          <p:cNvSpPr/>
          <p:nvPr/>
        </p:nvSpPr>
        <p:spPr>
          <a:xfrm>
            <a:off x="8366760" y="2286000"/>
            <a:ext cx="3520500" cy="2423100"/>
          </a:xfrm>
          <a:prstGeom prst="roundRect">
            <a:avLst>
              <a:gd fmla="val 5283" name="adj"/>
            </a:avLst>
          </a:prstGeom>
          <a:solidFill>
            <a:srgbClr val="17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8750808" y="2670048"/>
            <a:ext cx="658500" cy="658500"/>
          </a:xfrm>
          <a:prstGeom prst="ellipse">
            <a:avLst/>
          </a:prstGeom>
          <a:solidFill>
            <a:srgbClr val="22C5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11018520" y="2651760"/>
            <a:ext cx="502800" cy="457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34506A"/>
              </a:buClr>
              <a:buSzPts val="2200"/>
              <a:buFont typeface="Arial"/>
              <a:buNone/>
            </a:pPr>
            <a:r>
              <a:rPr b="1" i="0" lang="en-US" sz="2200" u="none" cap="none" strike="noStrike">
                <a:solidFill>
                  <a:srgbClr val="34506A"/>
                </a:solidFill>
                <a:latin typeface="Arial"/>
                <a:ea typeface="Arial"/>
                <a:cs typeface="Arial"/>
                <a:sym typeface="Arial"/>
              </a:rPr>
              <a:t>03</a:t>
            </a:r>
            <a:endParaRPr b="0" i="0" sz="2200" u="none" cap="none" strike="noStrike">
              <a:solidFill>
                <a:schemeClr val="dk1"/>
              </a:solidFill>
              <a:latin typeface="Calibri"/>
              <a:ea typeface="Calibri"/>
              <a:cs typeface="Calibri"/>
              <a:sym typeface="Calibri"/>
            </a:endParaRPr>
          </a:p>
        </p:txBody>
      </p:sp>
      <p:sp>
        <p:nvSpPr>
          <p:cNvPr id="268" name="Google Shape;268;p16"/>
          <p:cNvSpPr/>
          <p:nvPr/>
        </p:nvSpPr>
        <p:spPr>
          <a:xfrm>
            <a:off x="8750808" y="3474720"/>
            <a:ext cx="2788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rPr>
              <a:t>Expansion</a:t>
            </a:r>
            <a:endParaRPr b="0" i="0" sz="1800" u="none" cap="none" strike="noStrike">
              <a:solidFill>
                <a:schemeClr val="dk1"/>
              </a:solidFill>
              <a:latin typeface="Calibri"/>
              <a:ea typeface="Calibri"/>
              <a:cs typeface="Calibri"/>
              <a:sym typeface="Calibri"/>
            </a:endParaRPr>
          </a:p>
        </p:txBody>
      </p:sp>
      <p:sp>
        <p:nvSpPr>
          <p:cNvPr id="269" name="Google Shape;269;p16"/>
          <p:cNvSpPr/>
          <p:nvPr/>
        </p:nvSpPr>
        <p:spPr>
          <a:xfrm>
            <a:off x="8750808" y="3858768"/>
            <a:ext cx="2770500" cy="777300"/>
          </a:xfrm>
          <a:prstGeom prst="rect">
            <a:avLst/>
          </a:prstGeom>
          <a:noFill/>
          <a:ln>
            <a:noFill/>
          </a:ln>
        </p:spPr>
        <p:txBody>
          <a:bodyPr anchorCtr="0" anchor="t" bIns="45700" lIns="91425" spcFirstLastPara="1" rIns="91425" wrap="square" tIns="45700">
            <a:noAutofit/>
          </a:bodyPr>
          <a:lstStyle/>
          <a:p>
            <a:pPr indent="0" lvl="0" marL="0" marR="0" rtl="0" algn="l">
              <a:lnSpc>
                <a:spcPct val="118000"/>
              </a:lnSpc>
              <a:spcBef>
                <a:spcPts val="0"/>
              </a:spcBef>
              <a:spcAft>
                <a:spcPts val="0"/>
              </a:spcAft>
              <a:buClr>
                <a:srgbClr val="AEBFCC"/>
              </a:buClr>
              <a:buSzPts val="1400"/>
              <a:buFont typeface="Calibri"/>
              <a:buNone/>
            </a:pPr>
            <a:r>
              <a:rPr lang="en-US">
                <a:solidFill>
                  <a:srgbClr val="AEBFCC"/>
                </a:solidFill>
                <a:latin typeface="Calibri"/>
                <a:ea typeface="Calibri"/>
                <a:cs typeface="Calibri"/>
                <a:sym typeface="Calibri"/>
              </a:rPr>
              <a:t>Expand the app’s area of usage to not just Samammish, but other cities across Washington State.</a:t>
            </a:r>
            <a:endParaRPr b="0" i="0" sz="1400" u="none" cap="none" strike="noStrike">
              <a:solidFill>
                <a:schemeClr val="dk1"/>
              </a:solidFill>
              <a:latin typeface="Calibri"/>
              <a:ea typeface="Calibri"/>
              <a:cs typeface="Calibri"/>
              <a:sym typeface="Calibri"/>
            </a:endParaRPr>
          </a:p>
        </p:txBody>
      </p:sp>
      <p:cxnSp>
        <p:nvCxnSpPr>
          <p:cNvPr id="270" name="Google Shape;270;p16"/>
          <p:cNvCxnSpPr/>
          <p:nvPr/>
        </p:nvCxnSpPr>
        <p:spPr>
          <a:xfrm>
            <a:off x="640080" y="5138928"/>
            <a:ext cx="10908900" cy="0"/>
          </a:xfrm>
          <a:prstGeom prst="straightConnector1">
            <a:avLst/>
          </a:prstGeom>
          <a:noFill/>
          <a:ln cap="flat" cmpd="sng" w="12700">
            <a:solidFill>
              <a:srgbClr val="263D52"/>
            </a:solidFill>
            <a:prstDash val="solid"/>
            <a:round/>
            <a:headEnd len="sm" w="sm" type="none"/>
            <a:tailEnd len="sm" w="sm" type="none"/>
          </a:ln>
        </p:spPr>
      </p:cxnSp>
      <p:sp>
        <p:nvSpPr>
          <p:cNvPr id="271" name="Google Shape;271;p16"/>
          <p:cNvSpPr/>
          <p:nvPr/>
        </p:nvSpPr>
        <p:spPr>
          <a:xfrm>
            <a:off x="640080" y="5321808"/>
            <a:ext cx="108813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Annirudh Raman</a:t>
            </a:r>
            <a:endParaRPr b="0" i="0" sz="1600" u="none" cap="none" strike="noStrike">
              <a:solidFill>
                <a:schemeClr val="dk1"/>
              </a:solidFill>
              <a:latin typeface="Calibri"/>
              <a:ea typeface="Calibri"/>
              <a:cs typeface="Calibri"/>
              <a:sym typeface="Calibri"/>
            </a:endParaRPr>
          </a:p>
        </p:txBody>
      </p:sp>
      <p:sp>
        <p:nvSpPr>
          <p:cNvPr id="272" name="Google Shape;272;p16"/>
          <p:cNvSpPr/>
          <p:nvPr/>
        </p:nvSpPr>
        <p:spPr>
          <a:xfrm>
            <a:off x="640080" y="5669280"/>
            <a:ext cx="10881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DB0BF"/>
              </a:buClr>
              <a:buSzPts val="1400"/>
              <a:buFont typeface="Calibri"/>
              <a:buNone/>
            </a:pPr>
            <a:r>
              <a:rPr lang="en-US">
                <a:solidFill>
                  <a:srgbClr val="9DB0BF"/>
                </a:solidFill>
                <a:latin typeface="Calibri"/>
                <a:ea typeface="Calibri"/>
                <a:cs typeface="Calibri"/>
                <a:sym typeface="Calibri"/>
              </a:rPr>
              <a:t>Eastlake High School</a:t>
            </a:r>
            <a:r>
              <a:rPr b="0" i="0" lang="en-US" sz="1400" u="none" cap="none" strike="noStrike">
                <a:solidFill>
                  <a:srgbClr val="9DB0BF"/>
                </a:solidFill>
                <a:latin typeface="Calibri"/>
                <a:ea typeface="Calibri"/>
                <a:cs typeface="Calibri"/>
                <a:sym typeface="Calibri"/>
              </a:rPr>
              <a:t>  •  </a:t>
            </a:r>
            <a:r>
              <a:rPr lang="en-US">
                <a:solidFill>
                  <a:srgbClr val="9DB0BF"/>
                </a:solidFill>
                <a:latin typeface="Calibri"/>
                <a:ea typeface="Calibri"/>
                <a:cs typeface="Calibri"/>
                <a:sym typeface="Calibri"/>
              </a:rPr>
              <a:t>9th Grade</a:t>
            </a:r>
            <a:r>
              <a:rPr b="0" i="0" lang="en-US" sz="1400" u="none" cap="none" strike="noStrike">
                <a:solidFill>
                  <a:srgbClr val="9DB0BF"/>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73" name="Google Shape;273;p16"/>
          <p:cNvSpPr/>
          <p:nvPr/>
        </p:nvSpPr>
        <p:spPr>
          <a:xfrm>
            <a:off x="640080" y="5961888"/>
            <a:ext cx="10881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C8E9C"/>
              </a:buClr>
              <a:buSzPts val="1400"/>
              <a:buFont typeface="Calibri"/>
              <a:buNone/>
            </a:pPr>
            <a:r>
              <a:rPr lang="en-US">
                <a:solidFill>
                  <a:srgbClr val="7C8E9C"/>
                </a:solidFill>
                <a:latin typeface="Calibri"/>
                <a:ea typeface="Calibri"/>
                <a:cs typeface="Calibri"/>
                <a:sym typeface="Calibri"/>
              </a:rPr>
              <a:t>annirudh.raman@gmail.com</a:t>
            </a:r>
            <a:endParaRPr b="0" i="0" sz="1400" u="none" cap="none" strike="noStrike">
              <a:solidFill>
                <a:schemeClr val="dk1"/>
              </a:solidFill>
              <a:latin typeface="Calibri"/>
              <a:ea typeface="Calibri"/>
              <a:cs typeface="Calibri"/>
              <a:sym typeface="Calibri"/>
            </a:endParaRPr>
          </a:p>
        </p:txBody>
      </p:sp>
      <p:pic>
        <p:nvPicPr>
          <p:cNvPr descr="preencoded.png" id="274" name="Google Shape;274;p16"/>
          <p:cNvPicPr preferRelativeResize="0"/>
          <p:nvPr/>
        </p:nvPicPr>
        <p:blipFill rotWithShape="1">
          <a:blip r:embed="rId5">
            <a:alphaModFix/>
          </a:blip>
          <a:srcRect b="0" l="0" r="0" t="0"/>
          <a:stretch/>
        </p:blipFill>
        <p:spPr>
          <a:xfrm>
            <a:off x="8942825" y="2862087"/>
            <a:ext cx="274321" cy="274300"/>
          </a:xfrm>
          <a:prstGeom prst="rect">
            <a:avLst/>
          </a:prstGeom>
          <a:noFill/>
          <a:ln>
            <a:noFill/>
          </a:ln>
        </p:spPr>
      </p:pic>
      <p:sp>
        <p:nvSpPr>
          <p:cNvPr id="275" name="Google Shape;275;p16"/>
          <p:cNvSpPr/>
          <p:nvPr/>
        </p:nvSpPr>
        <p:spPr>
          <a:xfrm>
            <a:off x="8699500" y="-1397000"/>
            <a:ext cx="4698900" cy="4698900"/>
          </a:xfrm>
          <a:prstGeom prst="ellipse">
            <a:avLst/>
          </a:prstGeom>
          <a:solidFill>
            <a:srgbClr val="1FB86E">
              <a:alpha val="18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16"/>
          <p:cNvSpPr/>
          <p:nvPr/>
        </p:nvSpPr>
        <p:spPr>
          <a:xfrm>
            <a:off x="9457225" y="-508100"/>
            <a:ext cx="2921100" cy="2921100"/>
          </a:xfrm>
          <a:prstGeom prst="ellipse">
            <a:avLst/>
          </a:prstGeom>
          <a:solidFill>
            <a:srgbClr val="14A3A8">
              <a:alpha val="2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6"/>
          <p:cNvSpPr/>
          <p:nvPr/>
        </p:nvSpPr>
        <p:spPr>
          <a:xfrm>
            <a:off x="658275" y="-132850"/>
            <a:ext cx="6483300" cy="2802900"/>
          </a:xfrm>
          <a:prstGeom prst="rect">
            <a:avLst/>
          </a:prstGeom>
          <a:noFill/>
          <a:ln>
            <a:noFill/>
          </a:ln>
        </p:spPr>
        <p:txBody>
          <a:bodyPr anchorCtr="0" anchor="ctr" bIns="77850" lIns="155725" spcFirstLastPara="1" rIns="155725" wrap="square" tIns="77850">
            <a:noAutofit/>
          </a:bodyPr>
          <a:lstStyle/>
          <a:p>
            <a:pPr indent="0" lvl="0" marL="0" marR="0" rtl="0" algn="l">
              <a:spcBef>
                <a:spcPts val="0"/>
              </a:spcBef>
              <a:spcAft>
                <a:spcPts val="0"/>
              </a:spcAft>
              <a:buClr>
                <a:srgbClr val="11212F"/>
              </a:buClr>
              <a:buSzPts val="3577"/>
              <a:buFont typeface="Arial"/>
              <a:buNone/>
            </a:pPr>
            <a:r>
              <a:rPr b="1" lang="en-US" sz="3350">
                <a:solidFill>
                  <a:schemeClr val="lt1"/>
                </a:solidFill>
              </a:rPr>
              <a:t>How Do I Plan to Improve the App in the future?</a:t>
            </a:r>
            <a:endParaRPr b="0" i="0" sz="3350" u="none" cap="none" strike="noStrike">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p:nvPr/>
        </p:nvSpPr>
        <p:spPr>
          <a:xfrm>
            <a:off x="2162688" y="2014350"/>
            <a:ext cx="7866300" cy="282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3400"/>
              <a:buFont typeface="Arial"/>
              <a:buNone/>
            </a:pPr>
            <a:r>
              <a:rPr b="1" lang="en-US" sz="8000">
                <a:solidFill>
                  <a:schemeClr val="lt1"/>
                </a:solidFill>
              </a:rPr>
              <a:t>Your Thoughts?</a:t>
            </a:r>
            <a:endParaRPr b="0" i="0" sz="8000" u="none" cap="none" strike="noStrike">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p:nvPr/>
        </p:nvSpPr>
        <p:spPr>
          <a:xfrm>
            <a:off x="-175" y="0"/>
            <a:ext cx="12192000" cy="934500"/>
          </a:xfrm>
          <a:prstGeom prst="rect">
            <a:avLst/>
          </a:prstGeom>
          <a:solidFill>
            <a:srgbClr val="34506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18"/>
          <p:cNvSpPr/>
          <p:nvPr/>
        </p:nvSpPr>
        <p:spPr>
          <a:xfrm>
            <a:off x="646300" y="-95250"/>
            <a:ext cx="10735800" cy="112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3400"/>
              <a:buFont typeface="Arial"/>
              <a:buNone/>
            </a:pPr>
            <a:r>
              <a:rPr b="1" lang="en-US" sz="4000">
                <a:solidFill>
                  <a:schemeClr val="lt1"/>
                </a:solidFill>
              </a:rPr>
              <a:t>My Questions for Law Enforcement</a:t>
            </a:r>
            <a:endParaRPr b="0" i="0" sz="4000" u="none" cap="none" strike="noStrike">
              <a:solidFill>
                <a:schemeClr val="lt1"/>
              </a:solidFill>
              <a:latin typeface="Calibri"/>
              <a:ea typeface="Calibri"/>
              <a:cs typeface="Calibri"/>
              <a:sym typeface="Calibri"/>
            </a:endParaRPr>
          </a:p>
        </p:txBody>
      </p:sp>
      <p:sp>
        <p:nvSpPr>
          <p:cNvPr id="291" name="Google Shape;291;p18"/>
          <p:cNvSpPr txBox="1"/>
          <p:nvPr/>
        </p:nvSpPr>
        <p:spPr>
          <a:xfrm>
            <a:off x="2288238" y="1628100"/>
            <a:ext cx="7615200" cy="4132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1500">
                <a:solidFill>
                  <a:schemeClr val="lt1"/>
                </a:solidFill>
              </a:rPr>
              <a:t>What has your experience been as law enforcement with e-bike safety? </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What are the different reasons that accidents are happening?</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How are parents involved in this?</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What is working to solve the issue of e-bike safety and what isn’t?</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What are some ways we could try to solve this issue?</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Is the current focus of the app relevant to the issue?</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How can the app be as beneficial as possible?</a:t>
            </a:r>
            <a:endParaRPr sz="1500">
              <a:solidFill>
                <a:schemeClr val="lt1"/>
              </a:solidFill>
            </a:endParaRPr>
          </a:p>
          <a:p>
            <a:pPr indent="0" lvl="0" marL="0" rtl="0" algn="ctr">
              <a:lnSpc>
                <a:spcPct val="115000"/>
              </a:lnSpc>
              <a:spcBef>
                <a:spcPts val="0"/>
              </a:spcBef>
              <a:spcAft>
                <a:spcPts val="0"/>
              </a:spcAft>
              <a:buNone/>
            </a:pPr>
            <a:r>
              <a:t/>
            </a:r>
            <a:endParaRPr sz="1500">
              <a:solidFill>
                <a:schemeClr val="lt1"/>
              </a:solidFill>
            </a:endParaRPr>
          </a:p>
          <a:p>
            <a:pPr indent="0" lvl="0" marL="0" rtl="0" algn="ctr">
              <a:lnSpc>
                <a:spcPct val="115000"/>
              </a:lnSpc>
              <a:spcBef>
                <a:spcPts val="0"/>
              </a:spcBef>
              <a:spcAft>
                <a:spcPts val="0"/>
              </a:spcAft>
              <a:buNone/>
            </a:pPr>
            <a:r>
              <a:rPr lang="en-US" sz="1500">
                <a:solidFill>
                  <a:schemeClr val="lt1"/>
                </a:solidFill>
              </a:rPr>
              <a:t>Does the app seem like a useful tool that can be used to ensure e-bike safety?</a:t>
            </a:r>
            <a:endParaRPr sz="15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E2E"/>
        </a:solidFill>
      </p:bgPr>
    </p:bg>
    <p:spTree>
      <p:nvGrpSpPr>
        <p:cNvPr id="296" name="Shape 296"/>
        <p:cNvGrpSpPr/>
        <p:nvPr/>
      </p:nvGrpSpPr>
      <p:grpSpPr>
        <a:xfrm>
          <a:off x="0" y="0"/>
          <a:ext cx="0" cy="0"/>
          <a:chOff x="0" y="0"/>
          <a:chExt cx="0" cy="0"/>
        </a:xfrm>
      </p:grpSpPr>
      <p:sp>
        <p:nvSpPr>
          <p:cNvPr id="297" name="Google Shape;297;p19"/>
          <p:cNvSpPr/>
          <p:nvPr/>
        </p:nvSpPr>
        <p:spPr>
          <a:xfrm>
            <a:off x="2162688" y="2014350"/>
            <a:ext cx="7866300" cy="282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1212F"/>
              </a:buClr>
              <a:buSzPts val="3400"/>
              <a:buFont typeface="Arial"/>
              <a:buNone/>
            </a:pPr>
            <a:r>
              <a:rPr b="1" lang="en-US" sz="8000">
                <a:solidFill>
                  <a:schemeClr val="lt1"/>
                </a:solidFill>
              </a:rPr>
              <a:t>Thank You</a:t>
            </a:r>
            <a:endParaRPr b="0" i="0" sz="80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